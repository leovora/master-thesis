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D29"/>
        </a:solidFill>
      </p:bgPr>
    </p:bg>
    <p:spTree>
      <p:nvGrpSpPr>
        <p:cNvPr id="1" name=""/>
        <p:cNvGrpSpPr/>
        <p:nvPr/>
      </p:nvGrpSpPr>
      <p:grpSpPr>
        <a:xfrm>
          <a:off x="0" y="0"/>
          <a:ext cx="0" cy="0"/>
          <a:chOff x="0" y="0"/>
          <a:chExt cx="0" cy="0"/>
        </a:xfrm>
      </p:grpSpPr>
      <p:sp>
        <p:nvSpPr>
          <p:cNvPr id="2" name="Text 0"/>
          <p:cNvSpPr/>
          <p:nvPr/>
        </p:nvSpPr>
        <p:spPr>
          <a:xfrm>
            <a:off x="822960" y="1737360"/>
            <a:ext cx="10515600" cy="1828800"/>
          </a:xfrm>
          <a:prstGeom prst="rect">
            <a:avLst/>
          </a:prstGeom>
          <a:noFill/>
          <a:ln/>
        </p:spPr>
        <p:txBody>
          <a:bodyPr wrap="square" rtlCol="0" anchor="ctr"/>
          <a:lstStyle/>
          <a:p>
            <a:pPr indent="0" marL="0">
              <a:lnSpc>
                <a:spcPts val="4400"/>
              </a:lnSpc>
              <a:buNone/>
            </a:pPr>
            <a:r>
              <a:rPr lang="en-US" sz="3800" b="1" dirty="0">
                <a:solidFill>
                  <a:srgbClr val="FFFFFF"/>
                </a:solidFill>
                <a:latin typeface="Georgia" pitchFamily="34" charset="0"/>
                <a:ea typeface="Georgia" pitchFamily="34" charset="-122"/>
                <a:cs typeface="Georgia" pitchFamily="34" charset="-120"/>
              </a:rPr>
              <a:t>Adversarial Robustness of</a:t>
            </a:r>
            <a:endParaRPr lang="en-US" sz="3800" dirty="0"/>
          </a:p>
          <a:p>
            <a:pPr indent="0" marL="0">
              <a:lnSpc>
                <a:spcPts val="4400"/>
              </a:lnSpc>
              <a:buNone/>
            </a:pPr>
            <a:r>
              <a:rPr lang="en-US" sz="3800" b="1" dirty="0">
                <a:solidFill>
                  <a:srgbClr val="FFFFFF"/>
                </a:solidFill>
                <a:latin typeface="Georgia" pitchFamily="34" charset="0"/>
                <a:ea typeface="Georgia" pitchFamily="34" charset="-122"/>
                <a:cs typeface="Georgia" pitchFamily="34" charset="-120"/>
              </a:rPr>
              <a:t>LSTM-Based Trading Systems</a:t>
            </a:r>
            <a:endParaRPr lang="en-US" sz="3800" dirty="0"/>
          </a:p>
        </p:txBody>
      </p:sp>
      <p:sp>
        <p:nvSpPr>
          <p:cNvPr id="3" name="Text 1"/>
          <p:cNvSpPr/>
          <p:nvPr/>
        </p:nvSpPr>
        <p:spPr>
          <a:xfrm>
            <a:off x="822960" y="3611880"/>
            <a:ext cx="9418320" cy="1188720"/>
          </a:xfrm>
          <a:prstGeom prst="rect">
            <a:avLst/>
          </a:prstGeom>
          <a:noFill/>
          <a:ln/>
        </p:spPr>
        <p:txBody>
          <a:bodyPr wrap="square" rtlCol="0" anchor="ctr"/>
          <a:lstStyle/>
          <a:p>
            <a:pPr indent="0" marL="0">
              <a:lnSpc>
                <a:spcPts val="2200"/>
              </a:lnSpc>
              <a:buNone/>
            </a:pPr>
            <a:r>
              <a:rPr lang="en-US" sz="1550" dirty="0">
                <a:solidFill>
                  <a:srgbClr val="C7CBD6"/>
                </a:solidFill>
                <a:latin typeface="Calibri" pitchFamily="34" charset="0"/>
                <a:ea typeface="Calibri" pitchFamily="34" charset="-122"/>
                <a:cs typeface="Calibri" pitchFamily="34" charset="-120"/>
              </a:rPr>
              <a:t>A written summary of six experiments testing whether an attacker can manipulate an automated trading system (ATS) into making the wrong decision — and, if so, whether that manipulation actually costs money.</a:t>
            </a:r>
            <a:endParaRPr lang="en-US" sz="1550" dirty="0"/>
          </a:p>
        </p:txBody>
      </p:sp>
      <p:sp>
        <p:nvSpPr>
          <p:cNvPr id="4" name="Text 2"/>
          <p:cNvSpPr/>
          <p:nvPr/>
        </p:nvSpPr>
        <p:spPr>
          <a:xfrm>
            <a:off x="822960" y="6126480"/>
            <a:ext cx="8229600" cy="365760"/>
          </a:xfrm>
          <a:prstGeom prst="rect">
            <a:avLst/>
          </a:prstGeom>
          <a:noFill/>
          <a:ln/>
        </p:spPr>
        <p:txBody>
          <a:bodyPr wrap="square" rtlCol="0" anchor="ctr"/>
          <a:lstStyle/>
          <a:p>
            <a:pPr indent="0" marL="0">
              <a:buNone/>
            </a:pPr>
            <a:r>
              <a:rPr lang="en-US" sz="1250" dirty="0">
                <a:solidFill>
                  <a:srgbClr val="8A8FA0"/>
                </a:solidFill>
                <a:latin typeface="Calibri" pitchFamily="34" charset="0"/>
                <a:ea typeface="Calibri" pitchFamily="34" charset="-122"/>
                <a:cs typeface="Calibri" pitchFamily="34" charset="-120"/>
              </a:rPr>
              <a:t>Research summary  ·  prepared for email distribution  ·  August 2026</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74320"/>
          </a:xfrm>
          <a:prstGeom prst="rect">
            <a:avLst/>
          </a:prstGeom>
          <a:noFill/>
          <a:ln/>
        </p:spPr>
        <p:txBody>
          <a:bodyPr wrap="square" rtlCol="0" anchor="ctr"/>
          <a:lstStyle/>
          <a:p>
            <a:pPr indent="0" marL="0">
              <a:buNone/>
            </a:pPr>
            <a:r>
              <a:rPr lang="en-US" sz="1200" b="1" spc="200" kern="0" dirty="0">
                <a:solidFill>
                  <a:srgbClr val="C0392B"/>
                </a:solidFill>
                <a:latin typeface="Calibri" pitchFamily="34" charset="0"/>
                <a:ea typeface="Calibri" pitchFamily="34" charset="-122"/>
                <a:cs typeface="Calibri" pitchFamily="34" charset="-120"/>
              </a:rPr>
              <a:t>BACKGROUND</a:t>
            </a:r>
            <a:endParaRPr lang="en-US" sz="1200" dirty="0"/>
          </a:p>
        </p:txBody>
      </p:sp>
      <p:sp>
        <p:nvSpPr>
          <p:cNvPr id="3" name="Text 1"/>
          <p:cNvSpPr/>
          <p:nvPr/>
        </p:nvSpPr>
        <p:spPr>
          <a:xfrm>
            <a:off x="548640" y="594360"/>
            <a:ext cx="11064240" cy="1005840"/>
          </a:xfrm>
          <a:prstGeom prst="rect">
            <a:avLst/>
          </a:prstGeom>
          <a:noFill/>
          <a:ln/>
        </p:spPr>
        <p:txBody>
          <a:bodyPr wrap="square" rtlCol="0" anchor="ctr"/>
          <a:lstStyle/>
          <a:p>
            <a:pPr algn="l" indent="0" marL="0">
              <a:buNone/>
            </a:pPr>
            <a:r>
              <a:rPr lang="en-US" sz="2700" b="1" dirty="0">
                <a:solidFill>
                  <a:srgbClr val="1A1D29"/>
                </a:solidFill>
                <a:latin typeface="Georgia" pitchFamily="34" charset="0"/>
                <a:ea typeface="Georgia" pitchFamily="34" charset="-122"/>
                <a:cs typeface="Georgia" pitchFamily="34" charset="-120"/>
              </a:rPr>
              <a:t>Why we're testing whether trading algorithms</a:t>
            </a:r>
            <a:endParaRPr lang="en-US" sz="2700" dirty="0"/>
          </a:p>
          <a:p>
            <a:pPr algn="l" indent="0" marL="0">
              <a:buNone/>
            </a:pPr>
            <a:r>
              <a:rPr lang="en-US" sz="2700" b="1" dirty="0">
                <a:solidFill>
                  <a:srgbClr val="1A1D29"/>
                </a:solidFill>
                <a:latin typeface="Georgia" pitchFamily="34" charset="0"/>
                <a:ea typeface="Georgia" pitchFamily="34" charset="-122"/>
                <a:cs typeface="Georgia" pitchFamily="34" charset="-120"/>
              </a:rPr>
              <a:t>can be fooled</a:t>
            </a:r>
            <a:endParaRPr lang="en-US" sz="2700" dirty="0"/>
          </a:p>
        </p:txBody>
      </p:sp>
      <p:sp>
        <p:nvSpPr>
          <p:cNvPr id="4" name="Text 2"/>
          <p:cNvSpPr/>
          <p:nvPr/>
        </p:nvSpPr>
        <p:spPr>
          <a:xfrm>
            <a:off x="548640" y="1691640"/>
            <a:ext cx="11064240" cy="1554480"/>
          </a:xfrm>
          <a:prstGeom prst="rect">
            <a:avLst/>
          </a:prstGeom>
          <a:noFill/>
          <a:ln/>
        </p:spPr>
        <p:txBody>
          <a:bodyPr wrap="square" rtlCol="0" anchor="ctr"/>
          <a:lstStyle/>
          <a:p>
            <a:pPr indent="0" marL="0">
              <a:lnSpc>
                <a:spcPts val="2300"/>
              </a:lnSpc>
              <a:buNone/>
            </a:pPr>
            <a:r>
              <a:rPr lang="en-US" sz="1450" dirty="0">
                <a:solidFill>
                  <a:srgbClr val="1F2937"/>
                </a:solidFill>
                <a:latin typeface="Calibri" pitchFamily="34" charset="0"/>
                <a:ea typeface="Calibri" pitchFamily="34" charset="-122"/>
                <a:cs typeface="Calibri" pitchFamily="34" charset="-120"/>
              </a:rPr>
              <a:t>Automated Trading Systems (ATS) increasingly rely on deep learning models — in our case, LSTM networks — to decide when to buy or sell a stock. These models take a short historical window of prices as input and output a trading signal. Because the input is just numbers, it is in principle possible for an attacker to slightly perturb that input (for example, by feeding manipulated market data or exploiting a data feed) and push the model toward a different decision than it would otherwise make.</a:t>
            </a:r>
            <a:endParaRPr lang="en-US" sz="1450" dirty="0"/>
          </a:p>
        </p:txBody>
      </p:sp>
      <p:sp>
        <p:nvSpPr>
          <p:cNvPr id="5" name="Text 3"/>
          <p:cNvSpPr/>
          <p:nvPr/>
        </p:nvSpPr>
        <p:spPr>
          <a:xfrm>
            <a:off x="548640" y="3383280"/>
            <a:ext cx="11064240" cy="1554480"/>
          </a:xfrm>
          <a:prstGeom prst="rect">
            <a:avLst/>
          </a:prstGeom>
          <a:noFill/>
          <a:ln/>
        </p:spPr>
        <p:txBody>
          <a:bodyPr wrap="square" rtlCol="0" anchor="ctr"/>
          <a:lstStyle/>
          <a:p>
            <a:pPr indent="0" marL="0">
              <a:lnSpc>
                <a:spcPts val="2300"/>
              </a:lnSpc>
              <a:buNone/>
            </a:pPr>
            <a:r>
              <a:rPr lang="en-US" sz="1450" dirty="0">
                <a:solidFill>
                  <a:srgbClr val="1F2937"/>
                </a:solidFill>
                <a:latin typeface="Calibri" pitchFamily="34" charset="0"/>
                <a:ea typeface="Calibri" pitchFamily="34" charset="-122"/>
                <a:cs typeface="Calibri" pitchFamily="34" charset="-120"/>
              </a:rPr>
              <a:t>This work asks two separate questions that are often conflated in adversarial-ML research: (1) can an attack actually change the system's BUY/SELL decision, and (2) if it does, does that change translate into a real financial loss? The six experiments below build up the answer step by step, starting from a simple setup and progressively adding realism (different strategies, different retraining schedules, a proper time gap between training and attack, and a profitability-based success metric).</a:t>
            </a:r>
            <a:endParaRPr lang="en-US" sz="1450" dirty="0"/>
          </a:p>
        </p:txBody>
      </p:sp>
      <p:sp>
        <p:nvSpPr>
          <p:cNvPr id="6" name="Shape 4"/>
          <p:cNvSpPr/>
          <p:nvPr/>
        </p:nvSpPr>
        <p:spPr>
          <a:xfrm>
            <a:off x="548640" y="5120640"/>
            <a:ext cx="11064240" cy="1005840"/>
          </a:xfrm>
          <a:prstGeom prst="rect">
            <a:avLst/>
          </a:prstGeom>
          <a:solidFill>
            <a:srgbClr val="F4F5F7"/>
          </a:solidFill>
          <a:ln w="12700">
            <a:solidFill>
              <a:srgbClr val="F4F5F7"/>
            </a:solidFill>
            <a:prstDash val="solid"/>
          </a:ln>
        </p:spPr>
      </p:sp>
      <p:sp>
        <p:nvSpPr>
          <p:cNvPr id="7" name="Text 5"/>
          <p:cNvSpPr/>
          <p:nvPr/>
        </p:nvSpPr>
        <p:spPr>
          <a:xfrm>
            <a:off x="822960" y="5212080"/>
            <a:ext cx="10515600" cy="822960"/>
          </a:xfrm>
          <a:prstGeom prst="rect">
            <a:avLst/>
          </a:prstGeom>
          <a:noFill/>
          <a:ln/>
        </p:spPr>
        <p:txBody>
          <a:bodyPr wrap="square" rtlCol="0" anchor="ctr"/>
          <a:lstStyle/>
          <a:p>
            <a:pPr indent="0" marL="0">
              <a:buNone/>
            </a:pPr>
            <a:r>
              <a:rPr lang="en-US" sz="1350" i="1" dirty="0">
                <a:solidFill>
                  <a:srgbClr val="1F2937"/>
                </a:solidFill>
                <a:latin typeface="Calibri" pitchFamily="34" charset="0"/>
                <a:ea typeface="Calibri" pitchFamily="34" charset="-122"/>
                <a:cs typeface="Calibri" pitchFamily="34" charset="-120"/>
              </a:rPr>
              <a:t>Three trading strategies were tested throughout (Moving Average, Rate of Change, Bollinger Bands), each combined with different LSTM training regimes, and attacked using a grid search over small input perturbations (up to ±0.35 on the normalized price).</a:t>
            </a:r>
            <a:endParaRPr lang="en-US" sz="1350" dirty="0"/>
          </a:p>
        </p:txBody>
      </p:sp>
      <p:sp>
        <p:nvSpPr>
          <p:cNvPr id="8" name="Text 6"/>
          <p:cNvSpPr/>
          <p:nvPr/>
        </p:nvSpPr>
        <p:spPr>
          <a:xfrm>
            <a:off x="11612880" y="6492240"/>
            <a:ext cx="45720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74320"/>
          </a:xfrm>
          <a:prstGeom prst="rect">
            <a:avLst/>
          </a:prstGeom>
          <a:noFill/>
          <a:ln/>
        </p:spPr>
        <p:txBody>
          <a:bodyPr wrap="square" rtlCol="0" anchor="ctr"/>
          <a:lstStyle/>
          <a:p>
            <a:pPr indent="0" marL="0">
              <a:buNone/>
            </a:pPr>
            <a:r>
              <a:rPr lang="en-US" sz="1200" b="1" spc="200" kern="0" dirty="0">
                <a:solidFill>
                  <a:srgbClr val="C0392B"/>
                </a:solidFill>
                <a:latin typeface="Calibri" pitchFamily="34" charset="0"/>
                <a:ea typeface="Calibri" pitchFamily="34" charset="-122"/>
                <a:cs typeface="Calibri" pitchFamily="34" charset="-120"/>
              </a:rPr>
              <a:t>EXPERIMENT 1 — TIMING POLICIES</a:t>
            </a:r>
            <a:endParaRPr lang="en-US" sz="1200" dirty="0"/>
          </a:p>
        </p:txBody>
      </p:sp>
      <p:sp>
        <p:nvSpPr>
          <p:cNvPr id="3" name="Text 1"/>
          <p:cNvSpPr/>
          <p:nvPr/>
        </p:nvSpPr>
        <p:spPr>
          <a:xfrm>
            <a:off x="548640" y="594360"/>
            <a:ext cx="11064240" cy="822960"/>
          </a:xfrm>
          <a:prstGeom prst="rect">
            <a:avLst/>
          </a:prstGeom>
          <a:noFill/>
          <a:ln/>
        </p:spPr>
        <p:txBody>
          <a:bodyPr wrap="square" rtlCol="0" anchor="ctr"/>
          <a:lstStyle/>
          <a:p>
            <a:pPr algn="l" indent="0" marL="0">
              <a:buNone/>
            </a:pPr>
            <a:r>
              <a:rPr lang="en-US" sz="2700" b="1" dirty="0">
                <a:solidFill>
                  <a:srgbClr val="1A1D29"/>
                </a:solidFill>
                <a:latin typeface="Georgia" pitchFamily="34" charset="0"/>
                <a:ea typeface="Georgia" pitchFamily="34" charset="-122"/>
                <a:cs typeface="Georgia" pitchFamily="34" charset="-120"/>
              </a:rPr>
              <a:t>The first experiment: does WHEN you attack matter?</a:t>
            </a:r>
            <a:endParaRPr lang="en-US" sz="2700" dirty="0"/>
          </a:p>
        </p:txBody>
      </p:sp>
      <p:sp>
        <p:nvSpPr>
          <p:cNvPr id="4" name="Text 2"/>
          <p:cNvSpPr/>
          <p:nvPr/>
        </p:nvSpPr>
        <p:spPr>
          <a:xfrm>
            <a:off x="548640" y="1554480"/>
            <a:ext cx="11064240" cy="1417320"/>
          </a:xfrm>
          <a:prstGeom prst="rect">
            <a:avLst/>
          </a:prstGeom>
          <a:noFill/>
          <a:ln/>
        </p:spPr>
        <p:txBody>
          <a:bodyPr wrap="square" rtlCol="0" anchor="ctr"/>
          <a:lstStyle/>
          <a:p>
            <a:pPr indent="0" marL="0">
              <a:lnSpc>
                <a:spcPts val="2100"/>
              </a:lnSpc>
              <a:buNone/>
            </a:pPr>
            <a:r>
              <a:rPr lang="en-US" sz="1400" dirty="0">
                <a:solidFill>
                  <a:srgbClr val="1F2937"/>
                </a:solidFill>
                <a:latin typeface="Calibri" pitchFamily="34" charset="0"/>
                <a:ea typeface="Calibri" pitchFamily="34" charset="-122"/>
                <a:cs typeface="Calibri" pitchFamily="34" charset="-120"/>
              </a:rPr>
              <a:t>Rather than attacking on random days, we compared five different ways of choosing which day to attack: a uniform random baseline, days of high real market volatility, days of high volatility in the model's own predictions, days of strong price trend, and — the most "informed" option — days where the strategy's decision was already close to its switching threshold (near_strategy_boundary). The idea was to test whether generic market signals are enough to find vulnerable moments, or whether an attacker needs privileged knowledge of the model itself.</a:t>
            </a:r>
            <a:endParaRPr lang="en-US" sz="1400" dirty="0"/>
          </a:p>
        </p:txBody>
      </p:sp>
      <p:sp>
        <p:nvSpPr>
          <p:cNvPr id="5" name="Shape 3"/>
          <p:cNvSpPr/>
          <p:nvPr/>
        </p:nvSpPr>
        <p:spPr>
          <a:xfrm>
            <a:off x="548640" y="3154680"/>
            <a:ext cx="5349240" cy="1920240"/>
          </a:xfrm>
          <a:prstGeom prst="rect">
            <a:avLst/>
          </a:prstGeom>
          <a:solidFill>
            <a:srgbClr val="F4F5F7"/>
          </a:solidFill>
          <a:ln w="12700">
            <a:solidFill>
              <a:srgbClr val="F4F5F7"/>
            </a:solidFill>
            <a:prstDash val="solid"/>
          </a:ln>
        </p:spPr>
      </p:sp>
      <p:sp>
        <p:nvSpPr>
          <p:cNvPr id="6" name="Text 4"/>
          <p:cNvSpPr/>
          <p:nvPr/>
        </p:nvSpPr>
        <p:spPr>
          <a:xfrm>
            <a:off x="822960" y="3291840"/>
            <a:ext cx="2194560" cy="822960"/>
          </a:xfrm>
          <a:prstGeom prst="rect">
            <a:avLst/>
          </a:prstGeom>
          <a:noFill/>
          <a:ln/>
        </p:spPr>
        <p:txBody>
          <a:bodyPr wrap="square" rtlCol="0" anchor="ctr"/>
          <a:lstStyle/>
          <a:p>
            <a:pPr indent="0" marL="0">
              <a:buNone/>
            </a:pPr>
            <a:r>
              <a:rPr lang="en-US" sz="3800" b="1" dirty="0">
                <a:solidFill>
                  <a:srgbClr val="1E8449"/>
                </a:solidFill>
                <a:latin typeface="Georgia" pitchFamily="34" charset="0"/>
                <a:ea typeface="Georgia" pitchFamily="34" charset="-122"/>
                <a:cs typeface="Georgia" pitchFamily="34" charset="-120"/>
              </a:rPr>
              <a:t>100%</a:t>
            </a:r>
            <a:endParaRPr lang="en-US" sz="3800" dirty="0"/>
          </a:p>
        </p:txBody>
      </p:sp>
      <p:sp>
        <p:nvSpPr>
          <p:cNvPr id="7" name="Text 5"/>
          <p:cNvSpPr/>
          <p:nvPr/>
        </p:nvSpPr>
        <p:spPr>
          <a:xfrm>
            <a:off x="822960" y="4069080"/>
            <a:ext cx="4800600" cy="914400"/>
          </a:xfrm>
          <a:prstGeom prst="rect">
            <a:avLst/>
          </a:prstGeom>
          <a:noFill/>
          <a:ln/>
        </p:spPr>
        <p:txBody>
          <a:bodyPr wrap="square" rtlCol="0" anchor="ctr"/>
          <a:lstStyle/>
          <a:p>
            <a:pPr indent="0" marL="0">
              <a:lnSpc>
                <a:spcPts val="1600"/>
              </a:lnSpc>
              <a:buNone/>
            </a:pPr>
            <a:r>
              <a:rPr lang="en-US" sz="1250" dirty="0">
                <a:solidFill>
                  <a:srgbClr val="1F2937"/>
                </a:solidFill>
                <a:latin typeface="Calibri" pitchFamily="34" charset="0"/>
                <a:ea typeface="Calibri" pitchFamily="34" charset="-122"/>
                <a:cs typeface="Calibri" pitchFamily="34" charset="-120"/>
              </a:rPr>
              <a:t>of attacks succeeded against the Moving Average strategy when timed near its decision boundary — and required only a tiny perturbation (~0.014) to work.</a:t>
            </a:r>
            <a:endParaRPr lang="en-US" sz="1250" dirty="0"/>
          </a:p>
        </p:txBody>
      </p:sp>
      <p:sp>
        <p:nvSpPr>
          <p:cNvPr id="8" name="Shape 6"/>
          <p:cNvSpPr/>
          <p:nvPr/>
        </p:nvSpPr>
        <p:spPr>
          <a:xfrm>
            <a:off x="6263640" y="3154680"/>
            <a:ext cx="5349240" cy="1920240"/>
          </a:xfrm>
          <a:prstGeom prst="rect">
            <a:avLst/>
          </a:prstGeom>
          <a:solidFill>
            <a:srgbClr val="F4F5F7"/>
          </a:solidFill>
          <a:ln w="12700">
            <a:solidFill>
              <a:srgbClr val="F4F5F7"/>
            </a:solidFill>
            <a:prstDash val="solid"/>
          </a:ln>
        </p:spPr>
      </p:sp>
      <p:sp>
        <p:nvSpPr>
          <p:cNvPr id="9" name="Text 7"/>
          <p:cNvSpPr/>
          <p:nvPr/>
        </p:nvSpPr>
        <p:spPr>
          <a:xfrm>
            <a:off x="6537960" y="3291840"/>
            <a:ext cx="2194560" cy="822960"/>
          </a:xfrm>
          <a:prstGeom prst="rect">
            <a:avLst/>
          </a:prstGeom>
          <a:noFill/>
          <a:ln/>
        </p:spPr>
        <p:txBody>
          <a:bodyPr wrap="square" rtlCol="0" anchor="ctr"/>
          <a:lstStyle/>
          <a:p>
            <a:pPr indent="0" marL="0">
              <a:buNone/>
            </a:pPr>
            <a:r>
              <a:rPr lang="en-US" sz="3800" b="1" dirty="0">
                <a:solidFill>
                  <a:srgbClr val="C0392B"/>
                </a:solidFill>
                <a:latin typeface="Georgia" pitchFamily="34" charset="0"/>
                <a:ea typeface="Georgia" pitchFamily="34" charset="-122"/>
                <a:cs typeface="Georgia" pitchFamily="34" charset="-120"/>
              </a:rPr>
              <a:t>0%</a:t>
            </a:r>
            <a:endParaRPr lang="en-US" sz="3800" dirty="0"/>
          </a:p>
        </p:txBody>
      </p:sp>
      <p:sp>
        <p:nvSpPr>
          <p:cNvPr id="10" name="Text 8"/>
          <p:cNvSpPr/>
          <p:nvPr/>
        </p:nvSpPr>
        <p:spPr>
          <a:xfrm>
            <a:off x="6537960" y="4069080"/>
            <a:ext cx="4800600" cy="914400"/>
          </a:xfrm>
          <a:prstGeom prst="rect">
            <a:avLst/>
          </a:prstGeom>
          <a:noFill/>
          <a:ln/>
        </p:spPr>
        <p:txBody>
          <a:bodyPr wrap="square" rtlCol="0" anchor="ctr"/>
          <a:lstStyle/>
          <a:p>
            <a:pPr indent="0" marL="0">
              <a:lnSpc>
                <a:spcPts val="1600"/>
              </a:lnSpc>
              <a:buNone/>
            </a:pPr>
            <a:r>
              <a:rPr lang="en-US" sz="1250" dirty="0">
                <a:solidFill>
                  <a:srgbClr val="1F2937"/>
                </a:solidFill>
                <a:latin typeface="Calibri" pitchFamily="34" charset="0"/>
                <a:ea typeface="Calibri" pitchFamily="34" charset="-122"/>
                <a:cs typeface="Calibri" pitchFamily="34" charset="-120"/>
              </a:rPr>
              <a:t>of attacks succeeded against Rate of Change and Bollinger Bands, regardless of timing policy or how large the perturbation was allowed to be (up to 0.50).</a:t>
            </a:r>
            <a:endParaRPr lang="en-US" sz="1250" dirty="0"/>
          </a:p>
        </p:txBody>
      </p:sp>
      <p:sp>
        <p:nvSpPr>
          <p:cNvPr id="11" name="Text 9"/>
          <p:cNvSpPr/>
          <p:nvPr/>
        </p:nvSpPr>
        <p:spPr>
          <a:xfrm>
            <a:off x="548640" y="6446520"/>
            <a:ext cx="10515600" cy="320040"/>
          </a:xfrm>
          <a:prstGeom prst="rect">
            <a:avLst/>
          </a:prstGeom>
          <a:noFill/>
          <a:ln/>
        </p:spPr>
        <p:txBody>
          <a:bodyPr wrap="square" rtlCol="0" anchor="ctr"/>
          <a:lstStyle/>
          <a:p>
            <a:pPr indent="0" marL="0">
              <a:buNone/>
            </a:pPr>
            <a:r>
              <a:rPr lang="en-US" sz="1050" i="1" dirty="0">
                <a:solidFill>
                  <a:srgbClr val="5B6270"/>
                </a:solidFill>
                <a:latin typeface="Calibri" pitchFamily="34" charset="0"/>
                <a:ea typeface="Calibri" pitchFamily="34" charset="-122"/>
                <a:cs typeface="Calibri" pitchFamily="34" charset="-120"/>
              </a:rPr>
              <a:t>Takeaway: vulnerability is not about volatile markets in general — it's about being close to a specific model's decision boundary, which requires knowledge of that model.</a:t>
            </a:r>
            <a:endParaRPr lang="en-US" sz="1050" dirty="0"/>
          </a:p>
        </p:txBody>
      </p:sp>
      <p:sp>
        <p:nvSpPr>
          <p:cNvPr id="12" name="Text 10"/>
          <p:cNvSpPr/>
          <p:nvPr/>
        </p:nvSpPr>
        <p:spPr>
          <a:xfrm>
            <a:off x="11612880" y="6492240"/>
            <a:ext cx="45720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74320"/>
          </a:xfrm>
          <a:prstGeom prst="rect">
            <a:avLst/>
          </a:prstGeom>
          <a:noFill/>
          <a:ln/>
        </p:spPr>
        <p:txBody>
          <a:bodyPr wrap="square" rtlCol="0" anchor="ctr"/>
          <a:lstStyle/>
          <a:p>
            <a:pPr indent="0" marL="0">
              <a:buNone/>
            </a:pPr>
            <a:r>
              <a:rPr lang="en-US" sz="1200" b="1" spc="200" kern="0" dirty="0">
                <a:solidFill>
                  <a:srgbClr val="C0392B"/>
                </a:solidFill>
                <a:latin typeface="Calibri" pitchFamily="34" charset="0"/>
                <a:ea typeface="Calibri" pitchFamily="34" charset="-122"/>
                <a:cs typeface="Calibri" pitchFamily="34" charset="-120"/>
              </a:rPr>
              <a:t>EXPERIMENT 2 — COMPARING LSTM TRAINING REGIMES</a:t>
            </a:r>
            <a:endParaRPr lang="en-US" sz="1200" dirty="0"/>
          </a:p>
        </p:txBody>
      </p:sp>
      <p:sp>
        <p:nvSpPr>
          <p:cNvPr id="3" name="Text 1"/>
          <p:cNvSpPr/>
          <p:nvPr/>
        </p:nvSpPr>
        <p:spPr>
          <a:xfrm>
            <a:off x="548640" y="594360"/>
            <a:ext cx="11064240" cy="1005840"/>
          </a:xfrm>
          <a:prstGeom prst="rect">
            <a:avLst/>
          </a:prstGeom>
          <a:noFill/>
          <a:ln/>
        </p:spPr>
        <p:txBody>
          <a:bodyPr wrap="square" rtlCol="0" anchor="ctr"/>
          <a:lstStyle/>
          <a:p>
            <a:pPr algn="l" indent="0" marL="0">
              <a:buNone/>
            </a:pPr>
            <a:r>
              <a:rPr lang="en-US" sz="2700" b="1" dirty="0">
                <a:solidFill>
                  <a:srgbClr val="1A1D29"/>
                </a:solidFill>
                <a:latin typeface="Georgia" pitchFamily="34" charset="0"/>
                <a:ea typeface="Georgia" pitchFamily="34" charset="-122"/>
                <a:cs typeface="Georgia" pitchFamily="34" charset="-120"/>
              </a:rPr>
              <a:t>Does HOW the model is trained change how easy</a:t>
            </a:r>
            <a:endParaRPr lang="en-US" sz="2700" dirty="0"/>
          </a:p>
          <a:p>
            <a:pPr algn="l" indent="0" marL="0">
              <a:buNone/>
            </a:pPr>
            <a:r>
              <a:rPr lang="en-US" sz="2700" b="1" dirty="0">
                <a:solidFill>
                  <a:srgbClr val="1A1D29"/>
                </a:solidFill>
                <a:latin typeface="Georgia" pitchFamily="34" charset="0"/>
                <a:ea typeface="Georgia" pitchFamily="34" charset="-122"/>
                <a:cs typeface="Georgia" pitchFamily="34" charset="-120"/>
              </a:rPr>
              <a:t>it is to attack?</a:t>
            </a:r>
            <a:endParaRPr lang="en-US" sz="2700" dirty="0"/>
          </a:p>
        </p:txBody>
      </p:sp>
      <p:sp>
        <p:nvSpPr>
          <p:cNvPr id="4" name="Text 2"/>
          <p:cNvSpPr/>
          <p:nvPr/>
        </p:nvSpPr>
        <p:spPr>
          <a:xfrm>
            <a:off x="548640" y="1554480"/>
            <a:ext cx="11064240" cy="1188720"/>
          </a:xfrm>
          <a:prstGeom prst="rect">
            <a:avLst/>
          </a:prstGeom>
          <a:noFill/>
          <a:ln/>
        </p:spPr>
        <p:txBody>
          <a:bodyPr wrap="square" rtlCol="0" anchor="ctr"/>
          <a:lstStyle/>
          <a:p>
            <a:pPr indent="0" marL="0">
              <a:lnSpc>
                <a:spcPts val="2100"/>
              </a:lnSpc>
              <a:buNone/>
            </a:pPr>
            <a:r>
              <a:rPr lang="en-US" sz="1400" dirty="0">
                <a:solidFill>
                  <a:srgbClr val="1F2937"/>
                </a:solidFill>
                <a:latin typeface="Calibri" pitchFamily="34" charset="0"/>
                <a:ea typeface="Calibri" pitchFamily="34" charset="-122"/>
                <a:cs typeface="Calibri" pitchFamily="34" charset="-120"/>
              </a:rPr>
              <a:t>The first experiment used a single LSTM trained once on 13 years of data (the original paper's setup). Here we compared it against three alternatives: a model trained on only 3 recent years, a model retrained every 3 months on all data accumulated so far (cumulative), and a model retrained every 3 months but only on the last 5 years (rolling window). All four were attacked identically across all three strategies and six timing policies, giving 144 trials per setup.</a:t>
            </a:r>
            <a:endParaRPr lang="en-US" sz="1400" dirty="0"/>
          </a:p>
        </p:txBody>
      </p:sp>
      <p:sp>
        <p:nvSpPr>
          <p:cNvPr id="5" name="Shape 3"/>
          <p:cNvSpPr/>
          <p:nvPr/>
        </p:nvSpPr>
        <p:spPr>
          <a:xfrm>
            <a:off x="548640" y="2971800"/>
            <a:ext cx="8229600" cy="530352"/>
          </a:xfrm>
          <a:prstGeom prst="rect">
            <a:avLst/>
          </a:prstGeom>
          <a:solidFill>
            <a:srgbClr val="F4F5F7"/>
          </a:solidFill>
          <a:ln w="12700">
            <a:solidFill>
              <a:srgbClr val="F4F5F7"/>
            </a:solidFill>
            <a:prstDash val="solid"/>
          </a:ln>
        </p:spPr>
      </p:sp>
      <p:sp>
        <p:nvSpPr>
          <p:cNvPr id="6" name="Shape 4"/>
          <p:cNvSpPr/>
          <p:nvPr/>
        </p:nvSpPr>
        <p:spPr>
          <a:xfrm>
            <a:off x="548640" y="2971800"/>
            <a:ext cx="3108960" cy="530352"/>
          </a:xfrm>
          <a:prstGeom prst="rect">
            <a:avLst/>
          </a:prstGeom>
          <a:solidFill>
            <a:srgbClr val="2874A6"/>
          </a:solidFill>
          <a:ln w="12700">
            <a:solidFill>
              <a:srgbClr val="2874A6"/>
            </a:solidFill>
            <a:prstDash val="solid"/>
          </a:ln>
        </p:spPr>
      </p:sp>
      <p:sp>
        <p:nvSpPr>
          <p:cNvPr id="7" name="Text 5"/>
          <p:cNvSpPr/>
          <p:nvPr/>
        </p:nvSpPr>
        <p:spPr>
          <a:xfrm>
            <a:off x="3840480" y="2990088"/>
            <a:ext cx="4206240" cy="493776"/>
          </a:xfrm>
          <a:prstGeom prst="rect">
            <a:avLst/>
          </a:prstGeom>
          <a:noFill/>
          <a:ln/>
        </p:spPr>
        <p:txBody>
          <a:bodyPr wrap="square" rtlCol="0" anchor="ctr"/>
          <a:lstStyle/>
          <a:p>
            <a:pPr indent="0" marL="0">
              <a:buNone/>
            </a:pPr>
            <a:r>
              <a:rPr lang="en-US" sz="1250" dirty="0">
                <a:solidFill>
                  <a:srgbClr val="1A1D29"/>
                </a:solidFill>
                <a:latin typeface="Calibri" pitchFamily="34" charset="0"/>
                <a:ea typeface="Calibri" pitchFamily="34" charset="-122"/>
                <a:cs typeface="Calibri" pitchFamily="34" charset="-120"/>
              </a:rPr>
              <a:t>LSTM 3y (fixed, recent window)</a:t>
            </a:r>
            <a:endParaRPr lang="en-US" sz="1250" dirty="0"/>
          </a:p>
        </p:txBody>
      </p:sp>
      <p:sp>
        <p:nvSpPr>
          <p:cNvPr id="8" name="Text 6"/>
          <p:cNvSpPr/>
          <p:nvPr/>
        </p:nvSpPr>
        <p:spPr>
          <a:xfrm>
            <a:off x="8915400" y="2990088"/>
            <a:ext cx="1554480" cy="493776"/>
          </a:xfrm>
          <a:prstGeom prst="rect">
            <a:avLst/>
          </a:prstGeom>
          <a:noFill/>
          <a:ln/>
        </p:spPr>
        <p:txBody>
          <a:bodyPr wrap="square" rtlCol="0" anchor="ctr"/>
          <a:lstStyle/>
          <a:p>
            <a:pPr indent="0" marL="0">
              <a:buNone/>
            </a:pPr>
            <a:r>
              <a:rPr lang="en-US" sz="1500" b="1" dirty="0">
                <a:solidFill>
                  <a:srgbClr val="1F2937"/>
                </a:solidFill>
                <a:latin typeface="Georgia" pitchFamily="34" charset="0"/>
                <a:ea typeface="Georgia" pitchFamily="34" charset="-122"/>
                <a:cs typeface="Georgia" pitchFamily="34" charset="-120"/>
              </a:rPr>
              <a:t>27.8%</a:t>
            </a:r>
            <a:endParaRPr lang="en-US" sz="1500" dirty="0"/>
          </a:p>
        </p:txBody>
      </p:sp>
      <p:sp>
        <p:nvSpPr>
          <p:cNvPr id="9" name="Shape 7"/>
          <p:cNvSpPr/>
          <p:nvPr/>
        </p:nvSpPr>
        <p:spPr>
          <a:xfrm>
            <a:off x="548640" y="3630168"/>
            <a:ext cx="8229600" cy="530352"/>
          </a:xfrm>
          <a:prstGeom prst="rect">
            <a:avLst/>
          </a:prstGeom>
          <a:solidFill>
            <a:srgbClr val="F4F5F7"/>
          </a:solidFill>
          <a:ln w="12700">
            <a:solidFill>
              <a:srgbClr val="F4F5F7"/>
            </a:solidFill>
            <a:prstDash val="solid"/>
          </a:ln>
        </p:spPr>
      </p:sp>
      <p:sp>
        <p:nvSpPr>
          <p:cNvPr id="10" name="Shape 8"/>
          <p:cNvSpPr/>
          <p:nvPr/>
        </p:nvSpPr>
        <p:spPr>
          <a:xfrm>
            <a:off x="548640" y="3630168"/>
            <a:ext cx="3053043" cy="530352"/>
          </a:xfrm>
          <a:prstGeom prst="rect">
            <a:avLst/>
          </a:prstGeom>
          <a:solidFill>
            <a:srgbClr val="2874A6"/>
          </a:solidFill>
          <a:ln w="12700">
            <a:solidFill>
              <a:srgbClr val="2874A6"/>
            </a:solidFill>
            <a:prstDash val="solid"/>
          </a:ln>
        </p:spPr>
      </p:sp>
      <p:sp>
        <p:nvSpPr>
          <p:cNvPr id="11" name="Text 9"/>
          <p:cNvSpPr/>
          <p:nvPr/>
        </p:nvSpPr>
        <p:spPr>
          <a:xfrm>
            <a:off x="3840480" y="3648456"/>
            <a:ext cx="4206240" cy="493776"/>
          </a:xfrm>
          <a:prstGeom prst="rect">
            <a:avLst/>
          </a:prstGeom>
          <a:noFill/>
          <a:ln/>
        </p:spPr>
        <p:txBody>
          <a:bodyPr wrap="square" rtlCol="0" anchor="ctr"/>
          <a:lstStyle/>
          <a:p>
            <a:pPr indent="0" marL="0">
              <a:buNone/>
            </a:pPr>
            <a:r>
              <a:rPr lang="en-US" sz="1250" dirty="0">
                <a:solidFill>
                  <a:srgbClr val="1A1D29"/>
                </a:solidFill>
                <a:latin typeface="Calibri" pitchFamily="34" charset="0"/>
                <a:ea typeface="Calibri" pitchFamily="34" charset="-122"/>
                <a:cs typeface="Calibri" pitchFamily="34" charset="-120"/>
              </a:rPr>
              <a:t>LSTM 13y (original baseline)</a:t>
            </a:r>
            <a:endParaRPr lang="en-US" sz="1250" dirty="0"/>
          </a:p>
        </p:txBody>
      </p:sp>
      <p:sp>
        <p:nvSpPr>
          <p:cNvPr id="12" name="Text 10"/>
          <p:cNvSpPr/>
          <p:nvPr/>
        </p:nvSpPr>
        <p:spPr>
          <a:xfrm>
            <a:off x="8915400" y="3648456"/>
            <a:ext cx="1554480" cy="493776"/>
          </a:xfrm>
          <a:prstGeom prst="rect">
            <a:avLst/>
          </a:prstGeom>
          <a:noFill/>
          <a:ln/>
        </p:spPr>
        <p:txBody>
          <a:bodyPr wrap="square" rtlCol="0" anchor="ctr"/>
          <a:lstStyle/>
          <a:p>
            <a:pPr indent="0" marL="0">
              <a:buNone/>
            </a:pPr>
            <a:r>
              <a:rPr lang="en-US" sz="1500" b="1" dirty="0">
                <a:solidFill>
                  <a:srgbClr val="1F2937"/>
                </a:solidFill>
                <a:latin typeface="Georgia" pitchFamily="34" charset="0"/>
                <a:ea typeface="Georgia" pitchFamily="34" charset="-122"/>
                <a:cs typeface="Georgia" pitchFamily="34" charset="-120"/>
              </a:rPr>
              <a:t>27.3%</a:t>
            </a:r>
            <a:endParaRPr lang="en-US" sz="1500" dirty="0"/>
          </a:p>
        </p:txBody>
      </p:sp>
      <p:sp>
        <p:nvSpPr>
          <p:cNvPr id="13" name="Shape 11"/>
          <p:cNvSpPr/>
          <p:nvPr/>
        </p:nvSpPr>
        <p:spPr>
          <a:xfrm>
            <a:off x="548640" y="4288536"/>
            <a:ext cx="8229600" cy="530352"/>
          </a:xfrm>
          <a:prstGeom prst="rect">
            <a:avLst/>
          </a:prstGeom>
          <a:solidFill>
            <a:srgbClr val="F4F5F7"/>
          </a:solidFill>
          <a:ln w="12700">
            <a:solidFill>
              <a:srgbClr val="F4F5F7"/>
            </a:solidFill>
            <a:prstDash val="solid"/>
          </a:ln>
        </p:spPr>
      </p:sp>
      <p:sp>
        <p:nvSpPr>
          <p:cNvPr id="14" name="Shape 12"/>
          <p:cNvSpPr/>
          <p:nvPr/>
        </p:nvSpPr>
        <p:spPr>
          <a:xfrm>
            <a:off x="548640" y="4288536"/>
            <a:ext cx="2326128" cy="530352"/>
          </a:xfrm>
          <a:prstGeom prst="rect">
            <a:avLst/>
          </a:prstGeom>
          <a:solidFill>
            <a:srgbClr val="2874A6"/>
          </a:solidFill>
          <a:ln w="12700">
            <a:solidFill>
              <a:srgbClr val="2874A6"/>
            </a:solidFill>
            <a:prstDash val="solid"/>
          </a:ln>
        </p:spPr>
      </p:sp>
      <p:sp>
        <p:nvSpPr>
          <p:cNvPr id="15" name="Text 13"/>
          <p:cNvSpPr/>
          <p:nvPr/>
        </p:nvSpPr>
        <p:spPr>
          <a:xfrm>
            <a:off x="3840480" y="4306824"/>
            <a:ext cx="4206240" cy="493776"/>
          </a:xfrm>
          <a:prstGeom prst="rect">
            <a:avLst/>
          </a:prstGeom>
          <a:noFill/>
          <a:ln/>
        </p:spPr>
        <p:txBody>
          <a:bodyPr wrap="square" rtlCol="0" anchor="ctr"/>
          <a:lstStyle/>
          <a:p>
            <a:pPr indent="0" marL="0">
              <a:buNone/>
            </a:pPr>
            <a:r>
              <a:rPr lang="en-US" sz="1250" dirty="0">
                <a:solidFill>
                  <a:srgbClr val="1A1D29"/>
                </a:solidFill>
                <a:latin typeface="Calibri" pitchFamily="34" charset="0"/>
                <a:ea typeface="Calibri" pitchFamily="34" charset="-122"/>
                <a:cs typeface="Calibri" pitchFamily="34" charset="-120"/>
              </a:rPr>
              <a:t>LSTM cumulative retrain (every 3 months)</a:t>
            </a:r>
            <a:endParaRPr lang="en-US" sz="1250" dirty="0"/>
          </a:p>
        </p:txBody>
      </p:sp>
      <p:sp>
        <p:nvSpPr>
          <p:cNvPr id="16" name="Text 14"/>
          <p:cNvSpPr/>
          <p:nvPr/>
        </p:nvSpPr>
        <p:spPr>
          <a:xfrm>
            <a:off x="8915400" y="4306824"/>
            <a:ext cx="1554480" cy="493776"/>
          </a:xfrm>
          <a:prstGeom prst="rect">
            <a:avLst/>
          </a:prstGeom>
          <a:noFill/>
          <a:ln/>
        </p:spPr>
        <p:txBody>
          <a:bodyPr wrap="square" rtlCol="0" anchor="ctr"/>
          <a:lstStyle/>
          <a:p>
            <a:pPr indent="0" marL="0">
              <a:buNone/>
            </a:pPr>
            <a:r>
              <a:rPr lang="en-US" sz="1500" b="1" dirty="0">
                <a:solidFill>
                  <a:srgbClr val="1F2937"/>
                </a:solidFill>
                <a:latin typeface="Georgia" pitchFamily="34" charset="0"/>
                <a:ea typeface="Georgia" pitchFamily="34" charset="-122"/>
                <a:cs typeface="Georgia" pitchFamily="34" charset="-120"/>
              </a:rPr>
              <a:t>20.8%</a:t>
            </a:r>
            <a:endParaRPr lang="en-US" sz="1500" dirty="0"/>
          </a:p>
        </p:txBody>
      </p:sp>
      <p:sp>
        <p:nvSpPr>
          <p:cNvPr id="17" name="Shape 15"/>
          <p:cNvSpPr/>
          <p:nvPr/>
        </p:nvSpPr>
        <p:spPr>
          <a:xfrm>
            <a:off x="548640" y="4946904"/>
            <a:ext cx="8229600" cy="530352"/>
          </a:xfrm>
          <a:prstGeom prst="rect">
            <a:avLst/>
          </a:prstGeom>
          <a:solidFill>
            <a:srgbClr val="F4F5F7"/>
          </a:solidFill>
          <a:ln w="12700">
            <a:solidFill>
              <a:srgbClr val="F4F5F7"/>
            </a:solidFill>
            <a:prstDash val="solid"/>
          </a:ln>
        </p:spPr>
      </p:sp>
      <p:sp>
        <p:nvSpPr>
          <p:cNvPr id="18" name="Shape 16"/>
          <p:cNvSpPr/>
          <p:nvPr/>
        </p:nvSpPr>
        <p:spPr>
          <a:xfrm>
            <a:off x="548640" y="4946904"/>
            <a:ext cx="301949" cy="530352"/>
          </a:xfrm>
          <a:prstGeom prst="rect">
            <a:avLst/>
          </a:prstGeom>
          <a:solidFill>
            <a:srgbClr val="2874A6"/>
          </a:solidFill>
          <a:ln w="12700">
            <a:solidFill>
              <a:srgbClr val="2874A6"/>
            </a:solidFill>
            <a:prstDash val="solid"/>
          </a:ln>
        </p:spPr>
      </p:sp>
      <p:sp>
        <p:nvSpPr>
          <p:cNvPr id="19" name="Text 17"/>
          <p:cNvSpPr/>
          <p:nvPr/>
        </p:nvSpPr>
        <p:spPr>
          <a:xfrm>
            <a:off x="3840480" y="4965192"/>
            <a:ext cx="4206240" cy="493776"/>
          </a:xfrm>
          <a:prstGeom prst="rect">
            <a:avLst/>
          </a:prstGeom>
          <a:noFill/>
          <a:ln/>
        </p:spPr>
        <p:txBody>
          <a:bodyPr wrap="square" rtlCol="0" anchor="ctr"/>
          <a:lstStyle/>
          <a:p>
            <a:pPr indent="0" marL="0">
              <a:buNone/>
            </a:pPr>
            <a:r>
              <a:rPr lang="en-US" sz="1250" dirty="0">
                <a:solidFill>
                  <a:srgbClr val="1A1D29"/>
                </a:solidFill>
                <a:latin typeface="Calibri" pitchFamily="34" charset="0"/>
                <a:ea typeface="Calibri" pitchFamily="34" charset="-122"/>
                <a:cs typeface="Calibri" pitchFamily="34" charset="-120"/>
              </a:rPr>
              <a:t>LSTM rolling window retrain (every 3 months, 5y window)</a:t>
            </a:r>
            <a:endParaRPr lang="en-US" sz="1250" dirty="0"/>
          </a:p>
        </p:txBody>
      </p:sp>
      <p:sp>
        <p:nvSpPr>
          <p:cNvPr id="20" name="Text 18"/>
          <p:cNvSpPr/>
          <p:nvPr/>
        </p:nvSpPr>
        <p:spPr>
          <a:xfrm>
            <a:off x="8915400" y="4965192"/>
            <a:ext cx="1554480" cy="493776"/>
          </a:xfrm>
          <a:prstGeom prst="rect">
            <a:avLst/>
          </a:prstGeom>
          <a:noFill/>
          <a:ln/>
        </p:spPr>
        <p:txBody>
          <a:bodyPr wrap="square" rtlCol="0" anchor="ctr"/>
          <a:lstStyle/>
          <a:p>
            <a:pPr indent="0" marL="0">
              <a:buNone/>
            </a:pPr>
            <a:r>
              <a:rPr lang="en-US" sz="1500" b="1" dirty="0">
                <a:solidFill>
                  <a:srgbClr val="1F2937"/>
                </a:solidFill>
                <a:latin typeface="Georgia" pitchFamily="34" charset="0"/>
                <a:ea typeface="Georgia" pitchFamily="34" charset="-122"/>
                <a:cs typeface="Georgia" pitchFamily="34" charset="-120"/>
              </a:rPr>
              <a:t>2.7%</a:t>
            </a:r>
            <a:endParaRPr lang="en-US" sz="1500" dirty="0"/>
          </a:p>
        </p:txBody>
      </p:sp>
      <p:sp>
        <p:nvSpPr>
          <p:cNvPr id="21" name="Text 19"/>
          <p:cNvSpPr/>
          <p:nvPr/>
        </p:nvSpPr>
        <p:spPr>
          <a:xfrm>
            <a:off x="548640" y="5532120"/>
            <a:ext cx="11064240" cy="868680"/>
          </a:xfrm>
          <a:prstGeom prst="rect">
            <a:avLst/>
          </a:prstGeom>
          <a:noFill/>
          <a:ln/>
        </p:spPr>
        <p:txBody>
          <a:bodyPr wrap="square" rtlCol="0" anchor="ctr"/>
          <a:lstStyle/>
          <a:p>
            <a:pPr indent="0" marL="0">
              <a:lnSpc>
                <a:spcPts val="1800"/>
              </a:lnSpc>
              <a:buNone/>
            </a:pPr>
            <a:r>
              <a:rPr lang="en-US" sz="1300" i="1" dirty="0">
                <a:solidFill>
                  <a:srgbClr val="1F2937"/>
                </a:solidFill>
                <a:latin typeface="Calibri" pitchFamily="34" charset="0"/>
                <a:ea typeface="Calibri" pitchFamily="34" charset="-122"/>
                <a:cs typeface="Calibri" pitchFamily="34" charset="-120"/>
              </a:rPr>
              <a:t>In plain terms: how a model is kept up to date matters as much as its architecture. A model that is frequently refreshed on recent data (rolling retrain) was consistently the hardest to fool — its "attack success rate" (share of attacks that actually flipped the trading signal, when the baseline signal wasn't already the target) was ten times lower than the original baseline.</a:t>
            </a:r>
            <a:endParaRPr lang="en-US" sz="1300" dirty="0"/>
          </a:p>
        </p:txBody>
      </p:sp>
      <p:sp>
        <p:nvSpPr>
          <p:cNvPr id="22" name="Text 20"/>
          <p:cNvSpPr/>
          <p:nvPr/>
        </p:nvSpPr>
        <p:spPr>
          <a:xfrm>
            <a:off x="11612880" y="6492240"/>
            <a:ext cx="45720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74320"/>
          </a:xfrm>
          <a:prstGeom prst="rect">
            <a:avLst/>
          </a:prstGeom>
          <a:noFill/>
          <a:ln/>
        </p:spPr>
        <p:txBody>
          <a:bodyPr wrap="square" rtlCol="0" anchor="ctr"/>
          <a:lstStyle/>
          <a:p>
            <a:pPr indent="0" marL="0">
              <a:buNone/>
            </a:pPr>
            <a:r>
              <a:rPr lang="en-US" sz="1200" b="1" spc="200" kern="0" dirty="0">
                <a:solidFill>
                  <a:srgbClr val="C0392B"/>
                </a:solidFill>
                <a:latin typeface="Calibri" pitchFamily="34" charset="0"/>
                <a:ea typeface="Calibri" pitchFamily="34" charset="-122"/>
                <a:cs typeface="Calibri" pitchFamily="34" charset="-120"/>
              </a:rPr>
              <a:t>EXPERIMENT 3 — FIXING A METHODOLOGICAL GAP</a:t>
            </a:r>
            <a:endParaRPr lang="en-US" sz="1200" dirty="0"/>
          </a:p>
        </p:txBody>
      </p:sp>
      <p:sp>
        <p:nvSpPr>
          <p:cNvPr id="3" name="Text 1"/>
          <p:cNvSpPr/>
          <p:nvPr/>
        </p:nvSpPr>
        <p:spPr>
          <a:xfrm>
            <a:off x="548640" y="594360"/>
            <a:ext cx="11064240" cy="1005840"/>
          </a:xfrm>
          <a:prstGeom prst="rect">
            <a:avLst/>
          </a:prstGeom>
          <a:noFill/>
          <a:ln/>
        </p:spPr>
        <p:txBody>
          <a:bodyPr wrap="square" rtlCol="0" anchor="ctr"/>
          <a:lstStyle/>
          <a:p>
            <a:pPr algn="l" indent="0" marL="0">
              <a:buNone/>
            </a:pPr>
            <a:r>
              <a:rPr lang="en-US" sz="2700" b="1" dirty="0">
                <a:solidFill>
                  <a:srgbClr val="1A1D29"/>
                </a:solidFill>
                <a:latin typeface="Georgia" pitchFamily="34" charset="0"/>
                <a:ea typeface="Georgia" pitchFamily="34" charset="-122"/>
                <a:cs typeface="Georgia" pitchFamily="34" charset="-120"/>
              </a:rPr>
              <a:t>A closer look revealed a subtle flaw — and fixing</a:t>
            </a:r>
            <a:endParaRPr lang="en-US" sz="2700" dirty="0"/>
          </a:p>
          <a:p>
            <a:pPr algn="l" indent="0" marL="0">
              <a:buNone/>
            </a:pPr>
            <a:r>
              <a:rPr lang="en-US" sz="2700" b="1" dirty="0">
                <a:solidFill>
                  <a:srgbClr val="1A1D29"/>
                </a:solidFill>
                <a:latin typeface="Georgia" pitchFamily="34" charset="0"/>
                <a:ea typeface="Georgia" pitchFamily="34" charset="-122"/>
                <a:cs typeface="Georgia" pitchFamily="34" charset="-120"/>
              </a:rPr>
              <a:t>it confirmed the earlier findings</a:t>
            </a:r>
            <a:endParaRPr lang="en-US" sz="2700" dirty="0"/>
          </a:p>
        </p:txBody>
      </p:sp>
      <p:sp>
        <p:nvSpPr>
          <p:cNvPr id="4" name="Text 2"/>
          <p:cNvSpPr/>
          <p:nvPr/>
        </p:nvSpPr>
        <p:spPr>
          <a:xfrm>
            <a:off x="548640" y="1554480"/>
            <a:ext cx="11064240" cy="1280160"/>
          </a:xfrm>
          <a:prstGeom prst="rect">
            <a:avLst/>
          </a:prstGeom>
          <a:noFill/>
          <a:ln/>
        </p:spPr>
        <p:txBody>
          <a:bodyPr wrap="square" rtlCol="0" anchor="ctr"/>
          <a:lstStyle/>
          <a:p>
            <a:pPr indent="0" marL="0">
              <a:lnSpc>
                <a:spcPts val="2100"/>
              </a:lnSpc>
              <a:buNone/>
            </a:pPr>
            <a:r>
              <a:rPr lang="en-US" sz="1400" dirty="0">
                <a:solidFill>
                  <a:srgbClr val="1F2937"/>
                </a:solidFill>
                <a:latin typeface="Calibri" pitchFamily="34" charset="0"/>
                <a:ea typeface="Calibri" pitchFamily="34" charset="-122"/>
                <a:cs typeface="Calibri" pitchFamily="34" charset="-120"/>
              </a:rPr>
              <a:t>In the first two experiments, the attack was tested on the same time window used to evaluate the model's trading profitability. That's a methodological issue: it means an attacker's success could partly reflect over-fitting to that specific period rather than a genuine vulnerability. To correct this, a validation gap was introduced — the model's profitability was assessed on data from 2021–2023, and the attack was then tested separately on later, unseen data (through mid-2026).</a:t>
            </a:r>
            <a:endParaRPr lang="en-US" sz="1400" dirty="0"/>
          </a:p>
        </p:txBody>
      </p:sp>
      <p:sp>
        <p:nvSpPr>
          <p:cNvPr id="5" name="Text 3"/>
          <p:cNvSpPr/>
          <p:nvPr/>
        </p:nvSpPr>
        <p:spPr>
          <a:xfrm>
            <a:off x="548640" y="3063240"/>
            <a:ext cx="3200400" cy="274320"/>
          </a:xfrm>
          <a:prstGeom prst="rect">
            <a:avLst/>
          </a:prstGeom>
          <a:noFill/>
          <a:ln/>
        </p:spPr>
        <p:txBody>
          <a:bodyPr wrap="square" rtlCol="0" anchor="ctr"/>
          <a:lstStyle/>
          <a:p>
            <a:pPr indent="0" marL="0">
              <a:buNone/>
            </a:pPr>
            <a:r>
              <a:rPr lang="en-US" sz="1150" b="1" dirty="0">
                <a:solidFill>
                  <a:srgbClr val="5B6270"/>
                </a:solidFill>
                <a:latin typeface="Calibri" pitchFamily="34" charset="0"/>
                <a:ea typeface="Calibri" pitchFamily="34" charset="-122"/>
                <a:cs typeface="Calibri" pitchFamily="34" charset="-120"/>
              </a:rPr>
              <a:t>Setup</a:t>
            </a:r>
            <a:endParaRPr lang="en-US" sz="1150" dirty="0"/>
          </a:p>
        </p:txBody>
      </p:sp>
      <p:sp>
        <p:nvSpPr>
          <p:cNvPr id="6" name="Text 4"/>
          <p:cNvSpPr/>
          <p:nvPr/>
        </p:nvSpPr>
        <p:spPr>
          <a:xfrm>
            <a:off x="4023360" y="3063240"/>
            <a:ext cx="3657600" cy="274320"/>
          </a:xfrm>
          <a:prstGeom prst="rect">
            <a:avLst/>
          </a:prstGeom>
          <a:noFill/>
          <a:ln/>
        </p:spPr>
        <p:txBody>
          <a:bodyPr wrap="square" rtlCol="0" anchor="ctr"/>
          <a:lstStyle/>
          <a:p>
            <a:pPr indent="0" marL="0">
              <a:buNone/>
            </a:pPr>
            <a:r>
              <a:rPr lang="en-US" sz="1150" b="1" dirty="0">
                <a:solidFill>
                  <a:srgbClr val="5B6270"/>
                </a:solidFill>
                <a:latin typeface="Calibri" pitchFamily="34" charset="0"/>
                <a:ea typeface="Calibri" pitchFamily="34" charset="-122"/>
                <a:cs typeface="Calibri" pitchFamily="34" charset="-120"/>
              </a:rPr>
              <a:t>Attack success — same-period test (Exp. 2)</a:t>
            </a:r>
            <a:endParaRPr lang="en-US" sz="1150" dirty="0"/>
          </a:p>
        </p:txBody>
      </p:sp>
      <p:sp>
        <p:nvSpPr>
          <p:cNvPr id="7" name="Text 5"/>
          <p:cNvSpPr/>
          <p:nvPr/>
        </p:nvSpPr>
        <p:spPr>
          <a:xfrm>
            <a:off x="7955280" y="3063240"/>
            <a:ext cx="3566160" cy="274320"/>
          </a:xfrm>
          <a:prstGeom prst="rect">
            <a:avLst/>
          </a:prstGeom>
          <a:noFill/>
          <a:ln/>
        </p:spPr>
        <p:txBody>
          <a:bodyPr wrap="square" rtlCol="0" anchor="ctr"/>
          <a:lstStyle/>
          <a:p>
            <a:pPr indent="0" marL="0">
              <a:buNone/>
            </a:pPr>
            <a:r>
              <a:rPr lang="en-US" sz="1150" b="1" dirty="0">
                <a:solidFill>
                  <a:srgbClr val="5B6270"/>
                </a:solidFill>
                <a:latin typeface="Calibri" pitchFamily="34" charset="0"/>
                <a:ea typeface="Calibri" pitchFamily="34" charset="-122"/>
                <a:cs typeface="Calibri" pitchFamily="34" charset="-120"/>
              </a:rPr>
              <a:t>Attack success — held-out test (Exp. 3)</a:t>
            </a:r>
            <a:endParaRPr lang="en-US" sz="1150" dirty="0"/>
          </a:p>
        </p:txBody>
      </p:sp>
      <p:sp>
        <p:nvSpPr>
          <p:cNvPr id="8" name="Shape 6"/>
          <p:cNvSpPr/>
          <p:nvPr/>
        </p:nvSpPr>
        <p:spPr>
          <a:xfrm>
            <a:off x="548640" y="3429000"/>
            <a:ext cx="11064240" cy="457200"/>
          </a:xfrm>
          <a:prstGeom prst="rect">
            <a:avLst/>
          </a:prstGeom>
          <a:solidFill>
            <a:srgbClr val="F4F5F7"/>
          </a:solidFill>
          <a:ln w="12700">
            <a:solidFill>
              <a:srgbClr val="F4F5F7"/>
            </a:solidFill>
            <a:prstDash val="solid"/>
          </a:ln>
        </p:spPr>
      </p:sp>
      <p:sp>
        <p:nvSpPr>
          <p:cNvPr id="9" name="Text 7"/>
          <p:cNvSpPr/>
          <p:nvPr/>
        </p:nvSpPr>
        <p:spPr>
          <a:xfrm>
            <a:off x="777240" y="3447288"/>
            <a:ext cx="3017520" cy="420624"/>
          </a:xfrm>
          <a:prstGeom prst="rect">
            <a:avLst/>
          </a:prstGeom>
          <a:noFill/>
          <a:ln/>
        </p:spPr>
        <p:txBody>
          <a:bodyPr wrap="square" rtlCol="0" anchor="ctr"/>
          <a:lstStyle/>
          <a:p>
            <a:pPr indent="0" marL="0">
              <a:buNone/>
            </a:pPr>
            <a:r>
              <a:rPr lang="en-US" sz="1250" dirty="0">
                <a:solidFill>
                  <a:srgbClr val="1A1D29"/>
                </a:solidFill>
                <a:latin typeface="Calibri" pitchFamily="34" charset="0"/>
                <a:ea typeface="Calibri" pitchFamily="34" charset="-122"/>
                <a:cs typeface="Calibri" pitchFamily="34" charset="-120"/>
              </a:rPr>
              <a:t>LSTM 3y</a:t>
            </a:r>
            <a:endParaRPr lang="en-US" sz="1250" dirty="0"/>
          </a:p>
        </p:txBody>
      </p:sp>
      <p:sp>
        <p:nvSpPr>
          <p:cNvPr id="10" name="Text 8"/>
          <p:cNvSpPr/>
          <p:nvPr/>
        </p:nvSpPr>
        <p:spPr>
          <a:xfrm>
            <a:off x="4023360" y="3447288"/>
            <a:ext cx="3657600" cy="420624"/>
          </a:xfrm>
          <a:prstGeom prst="rect">
            <a:avLst/>
          </a:prstGeom>
          <a:noFill/>
          <a:ln/>
        </p:spPr>
        <p:txBody>
          <a:bodyPr wrap="square" rtlCol="0" anchor="ctr"/>
          <a:lstStyle/>
          <a:p>
            <a:pPr indent="0" marL="0">
              <a:buNone/>
            </a:pPr>
            <a:r>
              <a:rPr lang="en-US" sz="1250" dirty="0">
                <a:solidFill>
                  <a:srgbClr val="1F2937"/>
                </a:solidFill>
                <a:latin typeface="Calibri" pitchFamily="34" charset="0"/>
                <a:ea typeface="Calibri" pitchFamily="34" charset="-122"/>
                <a:cs typeface="Calibri" pitchFamily="34" charset="-120"/>
              </a:rPr>
              <a:t>27.8%</a:t>
            </a:r>
            <a:endParaRPr lang="en-US" sz="1250" dirty="0"/>
          </a:p>
        </p:txBody>
      </p:sp>
      <p:sp>
        <p:nvSpPr>
          <p:cNvPr id="11" name="Text 9"/>
          <p:cNvSpPr/>
          <p:nvPr/>
        </p:nvSpPr>
        <p:spPr>
          <a:xfrm>
            <a:off x="7955280" y="3447288"/>
            <a:ext cx="3566160" cy="420624"/>
          </a:xfrm>
          <a:prstGeom prst="rect">
            <a:avLst/>
          </a:prstGeom>
          <a:noFill/>
          <a:ln/>
        </p:spPr>
        <p:txBody>
          <a:bodyPr wrap="square" rtlCol="0" anchor="ctr"/>
          <a:lstStyle/>
          <a:p>
            <a:pPr indent="0" marL="0">
              <a:buNone/>
            </a:pPr>
            <a:r>
              <a:rPr lang="en-US" sz="1250" b="1" dirty="0">
                <a:solidFill>
                  <a:srgbClr val="2874A6"/>
                </a:solidFill>
                <a:latin typeface="Calibri" pitchFamily="34" charset="0"/>
                <a:ea typeface="Calibri" pitchFamily="34" charset="-122"/>
                <a:cs typeface="Calibri" pitchFamily="34" charset="-120"/>
              </a:rPr>
              <a:t>13.9%</a:t>
            </a:r>
            <a:endParaRPr lang="en-US" sz="1250" dirty="0"/>
          </a:p>
        </p:txBody>
      </p:sp>
      <p:sp>
        <p:nvSpPr>
          <p:cNvPr id="12" name="Shape 10"/>
          <p:cNvSpPr/>
          <p:nvPr/>
        </p:nvSpPr>
        <p:spPr>
          <a:xfrm>
            <a:off x="548640" y="3950208"/>
            <a:ext cx="11064240" cy="457200"/>
          </a:xfrm>
          <a:prstGeom prst="rect">
            <a:avLst/>
          </a:prstGeom>
          <a:solidFill>
            <a:srgbClr val="FFFFFF"/>
          </a:solidFill>
          <a:ln w="12700">
            <a:solidFill>
              <a:srgbClr val="F4F5F7"/>
            </a:solidFill>
            <a:prstDash val="solid"/>
          </a:ln>
        </p:spPr>
      </p:sp>
      <p:sp>
        <p:nvSpPr>
          <p:cNvPr id="13" name="Text 11"/>
          <p:cNvSpPr/>
          <p:nvPr/>
        </p:nvSpPr>
        <p:spPr>
          <a:xfrm>
            <a:off x="777240" y="3968496"/>
            <a:ext cx="3017520" cy="420624"/>
          </a:xfrm>
          <a:prstGeom prst="rect">
            <a:avLst/>
          </a:prstGeom>
          <a:noFill/>
          <a:ln/>
        </p:spPr>
        <p:txBody>
          <a:bodyPr wrap="square" rtlCol="0" anchor="ctr"/>
          <a:lstStyle/>
          <a:p>
            <a:pPr indent="0" marL="0">
              <a:buNone/>
            </a:pPr>
            <a:r>
              <a:rPr lang="en-US" sz="1250" dirty="0">
                <a:solidFill>
                  <a:srgbClr val="1A1D29"/>
                </a:solidFill>
                <a:latin typeface="Calibri" pitchFamily="34" charset="0"/>
                <a:ea typeface="Calibri" pitchFamily="34" charset="-122"/>
                <a:cs typeface="Calibri" pitchFamily="34" charset="-120"/>
              </a:rPr>
              <a:t>LSTM 13y</a:t>
            </a:r>
            <a:endParaRPr lang="en-US" sz="1250" dirty="0"/>
          </a:p>
        </p:txBody>
      </p:sp>
      <p:sp>
        <p:nvSpPr>
          <p:cNvPr id="14" name="Text 12"/>
          <p:cNvSpPr/>
          <p:nvPr/>
        </p:nvSpPr>
        <p:spPr>
          <a:xfrm>
            <a:off x="4023360" y="3968496"/>
            <a:ext cx="3657600" cy="420624"/>
          </a:xfrm>
          <a:prstGeom prst="rect">
            <a:avLst/>
          </a:prstGeom>
          <a:noFill/>
          <a:ln/>
        </p:spPr>
        <p:txBody>
          <a:bodyPr wrap="square" rtlCol="0" anchor="ctr"/>
          <a:lstStyle/>
          <a:p>
            <a:pPr indent="0" marL="0">
              <a:buNone/>
            </a:pPr>
            <a:r>
              <a:rPr lang="en-US" sz="1250" dirty="0">
                <a:solidFill>
                  <a:srgbClr val="1F2937"/>
                </a:solidFill>
                <a:latin typeface="Calibri" pitchFamily="34" charset="0"/>
                <a:ea typeface="Calibri" pitchFamily="34" charset="-122"/>
                <a:cs typeface="Calibri" pitchFamily="34" charset="-120"/>
              </a:rPr>
              <a:t>27.3%</a:t>
            </a:r>
            <a:endParaRPr lang="en-US" sz="1250" dirty="0"/>
          </a:p>
        </p:txBody>
      </p:sp>
      <p:sp>
        <p:nvSpPr>
          <p:cNvPr id="15" name="Text 13"/>
          <p:cNvSpPr/>
          <p:nvPr/>
        </p:nvSpPr>
        <p:spPr>
          <a:xfrm>
            <a:off x="7955280" y="3968496"/>
            <a:ext cx="3566160" cy="420624"/>
          </a:xfrm>
          <a:prstGeom prst="rect">
            <a:avLst/>
          </a:prstGeom>
          <a:noFill/>
          <a:ln/>
        </p:spPr>
        <p:txBody>
          <a:bodyPr wrap="square" rtlCol="0" anchor="ctr"/>
          <a:lstStyle/>
          <a:p>
            <a:pPr indent="0" marL="0">
              <a:buNone/>
            </a:pPr>
            <a:r>
              <a:rPr lang="en-US" sz="1250" b="1" dirty="0">
                <a:solidFill>
                  <a:srgbClr val="2874A6"/>
                </a:solidFill>
                <a:latin typeface="Calibri" pitchFamily="34" charset="0"/>
                <a:ea typeface="Calibri" pitchFamily="34" charset="-122"/>
                <a:cs typeface="Calibri" pitchFamily="34" charset="-120"/>
              </a:rPr>
              <a:t>18.1%</a:t>
            </a:r>
            <a:endParaRPr lang="en-US" sz="1250" dirty="0"/>
          </a:p>
        </p:txBody>
      </p:sp>
      <p:sp>
        <p:nvSpPr>
          <p:cNvPr id="16" name="Shape 14"/>
          <p:cNvSpPr/>
          <p:nvPr/>
        </p:nvSpPr>
        <p:spPr>
          <a:xfrm>
            <a:off x="548640" y="4471416"/>
            <a:ext cx="11064240" cy="457200"/>
          </a:xfrm>
          <a:prstGeom prst="rect">
            <a:avLst/>
          </a:prstGeom>
          <a:solidFill>
            <a:srgbClr val="F4F5F7"/>
          </a:solidFill>
          <a:ln w="12700">
            <a:solidFill>
              <a:srgbClr val="F4F5F7"/>
            </a:solidFill>
            <a:prstDash val="solid"/>
          </a:ln>
        </p:spPr>
      </p:sp>
      <p:sp>
        <p:nvSpPr>
          <p:cNvPr id="17" name="Text 15"/>
          <p:cNvSpPr/>
          <p:nvPr/>
        </p:nvSpPr>
        <p:spPr>
          <a:xfrm>
            <a:off x="777240" y="4489704"/>
            <a:ext cx="3017520" cy="420624"/>
          </a:xfrm>
          <a:prstGeom prst="rect">
            <a:avLst/>
          </a:prstGeom>
          <a:noFill/>
          <a:ln/>
        </p:spPr>
        <p:txBody>
          <a:bodyPr wrap="square" rtlCol="0" anchor="ctr"/>
          <a:lstStyle/>
          <a:p>
            <a:pPr indent="0" marL="0">
              <a:buNone/>
            </a:pPr>
            <a:r>
              <a:rPr lang="en-US" sz="1250" dirty="0">
                <a:solidFill>
                  <a:srgbClr val="1A1D29"/>
                </a:solidFill>
                <a:latin typeface="Calibri" pitchFamily="34" charset="0"/>
                <a:ea typeface="Calibri" pitchFamily="34" charset="-122"/>
                <a:cs typeface="Calibri" pitchFamily="34" charset="-120"/>
              </a:rPr>
              <a:t>LSTM cumulative</a:t>
            </a:r>
            <a:endParaRPr lang="en-US" sz="1250" dirty="0"/>
          </a:p>
        </p:txBody>
      </p:sp>
      <p:sp>
        <p:nvSpPr>
          <p:cNvPr id="18" name="Text 16"/>
          <p:cNvSpPr/>
          <p:nvPr/>
        </p:nvSpPr>
        <p:spPr>
          <a:xfrm>
            <a:off x="4023360" y="4489704"/>
            <a:ext cx="3657600" cy="420624"/>
          </a:xfrm>
          <a:prstGeom prst="rect">
            <a:avLst/>
          </a:prstGeom>
          <a:noFill/>
          <a:ln/>
        </p:spPr>
        <p:txBody>
          <a:bodyPr wrap="square" rtlCol="0" anchor="ctr"/>
          <a:lstStyle/>
          <a:p>
            <a:pPr indent="0" marL="0">
              <a:buNone/>
            </a:pPr>
            <a:r>
              <a:rPr lang="en-US" sz="1250" dirty="0">
                <a:solidFill>
                  <a:srgbClr val="1F2937"/>
                </a:solidFill>
                <a:latin typeface="Calibri" pitchFamily="34" charset="0"/>
                <a:ea typeface="Calibri" pitchFamily="34" charset="-122"/>
                <a:cs typeface="Calibri" pitchFamily="34" charset="-120"/>
              </a:rPr>
              <a:t>20.8%</a:t>
            </a:r>
            <a:endParaRPr lang="en-US" sz="1250" dirty="0"/>
          </a:p>
        </p:txBody>
      </p:sp>
      <p:sp>
        <p:nvSpPr>
          <p:cNvPr id="19" name="Text 17"/>
          <p:cNvSpPr/>
          <p:nvPr/>
        </p:nvSpPr>
        <p:spPr>
          <a:xfrm>
            <a:off x="7955280" y="4489704"/>
            <a:ext cx="3566160" cy="420624"/>
          </a:xfrm>
          <a:prstGeom prst="rect">
            <a:avLst/>
          </a:prstGeom>
          <a:noFill/>
          <a:ln/>
        </p:spPr>
        <p:txBody>
          <a:bodyPr wrap="square" rtlCol="0" anchor="ctr"/>
          <a:lstStyle/>
          <a:p>
            <a:pPr indent="0" marL="0">
              <a:buNone/>
            </a:pPr>
            <a:r>
              <a:rPr lang="en-US" sz="1250" b="1" dirty="0">
                <a:solidFill>
                  <a:srgbClr val="2874A6"/>
                </a:solidFill>
                <a:latin typeface="Calibri" pitchFamily="34" charset="0"/>
                <a:ea typeface="Calibri" pitchFamily="34" charset="-122"/>
                <a:cs typeface="Calibri" pitchFamily="34" charset="-120"/>
              </a:rPr>
              <a:t>12.3%</a:t>
            </a:r>
            <a:endParaRPr lang="en-US" sz="1250" dirty="0"/>
          </a:p>
        </p:txBody>
      </p:sp>
      <p:sp>
        <p:nvSpPr>
          <p:cNvPr id="20" name="Shape 18"/>
          <p:cNvSpPr/>
          <p:nvPr/>
        </p:nvSpPr>
        <p:spPr>
          <a:xfrm>
            <a:off x="548640" y="4992624"/>
            <a:ext cx="11064240" cy="457200"/>
          </a:xfrm>
          <a:prstGeom prst="rect">
            <a:avLst/>
          </a:prstGeom>
          <a:solidFill>
            <a:srgbClr val="FFFFFF"/>
          </a:solidFill>
          <a:ln w="12700">
            <a:solidFill>
              <a:srgbClr val="F4F5F7"/>
            </a:solidFill>
            <a:prstDash val="solid"/>
          </a:ln>
        </p:spPr>
      </p:sp>
      <p:sp>
        <p:nvSpPr>
          <p:cNvPr id="21" name="Text 19"/>
          <p:cNvSpPr/>
          <p:nvPr/>
        </p:nvSpPr>
        <p:spPr>
          <a:xfrm>
            <a:off x="777240" y="5010912"/>
            <a:ext cx="3017520" cy="420624"/>
          </a:xfrm>
          <a:prstGeom prst="rect">
            <a:avLst/>
          </a:prstGeom>
          <a:noFill/>
          <a:ln/>
        </p:spPr>
        <p:txBody>
          <a:bodyPr wrap="square" rtlCol="0" anchor="ctr"/>
          <a:lstStyle/>
          <a:p>
            <a:pPr indent="0" marL="0">
              <a:buNone/>
            </a:pPr>
            <a:r>
              <a:rPr lang="en-US" sz="1250" dirty="0">
                <a:solidFill>
                  <a:srgbClr val="1A1D29"/>
                </a:solidFill>
                <a:latin typeface="Calibri" pitchFamily="34" charset="0"/>
                <a:ea typeface="Calibri" pitchFamily="34" charset="-122"/>
                <a:cs typeface="Calibri" pitchFamily="34" charset="-120"/>
              </a:rPr>
              <a:t>LSTM rolling</a:t>
            </a:r>
            <a:endParaRPr lang="en-US" sz="1250" dirty="0"/>
          </a:p>
        </p:txBody>
      </p:sp>
      <p:sp>
        <p:nvSpPr>
          <p:cNvPr id="22" name="Text 20"/>
          <p:cNvSpPr/>
          <p:nvPr/>
        </p:nvSpPr>
        <p:spPr>
          <a:xfrm>
            <a:off x="4023360" y="5010912"/>
            <a:ext cx="3657600" cy="420624"/>
          </a:xfrm>
          <a:prstGeom prst="rect">
            <a:avLst/>
          </a:prstGeom>
          <a:noFill/>
          <a:ln/>
        </p:spPr>
        <p:txBody>
          <a:bodyPr wrap="square" rtlCol="0" anchor="ctr"/>
          <a:lstStyle/>
          <a:p>
            <a:pPr indent="0" marL="0">
              <a:buNone/>
            </a:pPr>
            <a:r>
              <a:rPr lang="en-US" sz="1250" dirty="0">
                <a:solidFill>
                  <a:srgbClr val="1F2937"/>
                </a:solidFill>
                <a:latin typeface="Calibri" pitchFamily="34" charset="0"/>
                <a:ea typeface="Calibri" pitchFamily="34" charset="-122"/>
                <a:cs typeface="Calibri" pitchFamily="34" charset="-120"/>
              </a:rPr>
              <a:t>2.7%</a:t>
            </a:r>
            <a:endParaRPr lang="en-US" sz="1250" dirty="0"/>
          </a:p>
        </p:txBody>
      </p:sp>
      <p:sp>
        <p:nvSpPr>
          <p:cNvPr id="23" name="Text 21"/>
          <p:cNvSpPr/>
          <p:nvPr/>
        </p:nvSpPr>
        <p:spPr>
          <a:xfrm>
            <a:off x="7955280" y="5010912"/>
            <a:ext cx="3566160" cy="420624"/>
          </a:xfrm>
          <a:prstGeom prst="rect">
            <a:avLst/>
          </a:prstGeom>
          <a:noFill/>
          <a:ln/>
        </p:spPr>
        <p:txBody>
          <a:bodyPr wrap="square" rtlCol="0" anchor="ctr"/>
          <a:lstStyle/>
          <a:p>
            <a:pPr indent="0" marL="0">
              <a:buNone/>
            </a:pPr>
            <a:r>
              <a:rPr lang="en-US" sz="1250" b="1" dirty="0">
                <a:solidFill>
                  <a:srgbClr val="2874A6"/>
                </a:solidFill>
                <a:latin typeface="Calibri" pitchFamily="34" charset="0"/>
                <a:ea typeface="Calibri" pitchFamily="34" charset="-122"/>
                <a:cs typeface="Calibri" pitchFamily="34" charset="-120"/>
              </a:rPr>
              <a:t>6.9%</a:t>
            </a:r>
            <a:endParaRPr lang="en-US" sz="1250" dirty="0"/>
          </a:p>
        </p:txBody>
      </p:sp>
      <p:sp>
        <p:nvSpPr>
          <p:cNvPr id="24" name="Text 22"/>
          <p:cNvSpPr/>
          <p:nvPr/>
        </p:nvSpPr>
        <p:spPr>
          <a:xfrm>
            <a:off x="548640" y="5577840"/>
            <a:ext cx="11064240" cy="822960"/>
          </a:xfrm>
          <a:prstGeom prst="rect">
            <a:avLst/>
          </a:prstGeom>
          <a:noFill/>
          <a:ln/>
        </p:spPr>
        <p:txBody>
          <a:bodyPr wrap="square" rtlCol="0" anchor="ctr"/>
          <a:lstStyle/>
          <a:p>
            <a:pPr indent="0" marL="0">
              <a:lnSpc>
                <a:spcPts val="1800"/>
              </a:lnSpc>
              <a:buNone/>
            </a:pPr>
            <a:r>
              <a:rPr lang="en-US" sz="1300" i="1" dirty="0">
                <a:solidFill>
                  <a:srgbClr val="1F2937"/>
                </a:solidFill>
                <a:latin typeface="Calibri" pitchFamily="34" charset="0"/>
                <a:ea typeface="Calibri" pitchFamily="34" charset="-122"/>
                <a:cs typeface="Calibri" pitchFamily="34" charset="-120"/>
              </a:rPr>
              <a:t>Attack effectiveness dropped somewhat for most setups once tested out-of-sample — expected, since the earlier numbers were partly optimistic. Interestingly, the rolling-retrain model became slightly easier to attack in this later period, though it remained by far the most robust setup overall. The core conclusion — Moving Average is fragile, the other two strategies are not — still held.</a:t>
            </a:r>
            <a:endParaRPr lang="en-US" sz="1300" dirty="0"/>
          </a:p>
        </p:txBody>
      </p:sp>
      <p:sp>
        <p:nvSpPr>
          <p:cNvPr id="25" name="Text 23"/>
          <p:cNvSpPr/>
          <p:nvPr/>
        </p:nvSpPr>
        <p:spPr>
          <a:xfrm>
            <a:off x="11612880" y="6492240"/>
            <a:ext cx="45720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74320"/>
          </a:xfrm>
          <a:prstGeom prst="rect">
            <a:avLst/>
          </a:prstGeom>
          <a:noFill/>
          <a:ln/>
        </p:spPr>
        <p:txBody>
          <a:bodyPr wrap="square" rtlCol="0" anchor="ctr"/>
          <a:lstStyle/>
          <a:p>
            <a:pPr indent="0" marL="0">
              <a:buNone/>
            </a:pPr>
            <a:r>
              <a:rPr lang="en-US" sz="1200" b="1" spc="200" kern="0" dirty="0">
                <a:solidFill>
                  <a:srgbClr val="C0392B"/>
                </a:solidFill>
                <a:latin typeface="Calibri" pitchFamily="34" charset="0"/>
                <a:ea typeface="Calibri" pitchFamily="34" charset="-122"/>
                <a:cs typeface="Calibri" pitchFamily="34" charset="-120"/>
              </a:rPr>
              <a:t>EXPERIMENT 4 — DOES A FLIPPED SIGNAL ACTUALLY COST MONEY?</a:t>
            </a:r>
            <a:endParaRPr lang="en-US" sz="1200" dirty="0"/>
          </a:p>
        </p:txBody>
      </p:sp>
      <p:sp>
        <p:nvSpPr>
          <p:cNvPr id="3" name="Text 1"/>
          <p:cNvSpPr/>
          <p:nvPr/>
        </p:nvSpPr>
        <p:spPr>
          <a:xfrm>
            <a:off x="548640" y="594360"/>
            <a:ext cx="11064240" cy="1005840"/>
          </a:xfrm>
          <a:prstGeom prst="rect">
            <a:avLst/>
          </a:prstGeom>
          <a:noFill/>
          <a:ln/>
        </p:spPr>
        <p:txBody>
          <a:bodyPr wrap="square" rtlCol="0" anchor="ctr"/>
          <a:lstStyle/>
          <a:p>
            <a:pPr algn="l" indent="0" marL="0">
              <a:buNone/>
            </a:pPr>
            <a:r>
              <a:rPr lang="en-US" sz="2700" b="1" dirty="0">
                <a:solidFill>
                  <a:srgbClr val="1A1D29"/>
                </a:solidFill>
                <a:latin typeface="Georgia" pitchFamily="34" charset="0"/>
                <a:ea typeface="Georgia" pitchFamily="34" charset="-122"/>
                <a:cs typeface="Georgia" pitchFamily="34" charset="-120"/>
              </a:rPr>
              <a:t>The most important question of the whole project:</a:t>
            </a:r>
            <a:endParaRPr lang="en-US" sz="2700" dirty="0"/>
          </a:p>
          <a:p>
            <a:pPr algn="l" indent="0" marL="0">
              <a:buNone/>
            </a:pPr>
            <a:r>
              <a:rPr lang="en-US" sz="2700" b="1" dirty="0">
                <a:solidFill>
                  <a:srgbClr val="1A1D29"/>
                </a:solidFill>
                <a:latin typeface="Georgia" pitchFamily="34" charset="0"/>
                <a:ea typeface="Georgia" pitchFamily="34" charset="-122"/>
                <a:cs typeface="Georgia" pitchFamily="34" charset="-120"/>
              </a:rPr>
              <a:t>success isn't just about flipping a signal</a:t>
            </a:r>
            <a:endParaRPr lang="en-US" sz="2700" dirty="0"/>
          </a:p>
        </p:txBody>
      </p:sp>
      <p:sp>
        <p:nvSpPr>
          <p:cNvPr id="4" name="Text 2"/>
          <p:cNvSpPr/>
          <p:nvPr/>
        </p:nvSpPr>
        <p:spPr>
          <a:xfrm>
            <a:off x="548640" y="1554480"/>
            <a:ext cx="11064240" cy="1280160"/>
          </a:xfrm>
          <a:prstGeom prst="rect">
            <a:avLst/>
          </a:prstGeom>
          <a:noFill/>
          <a:ln/>
        </p:spPr>
        <p:txBody>
          <a:bodyPr wrap="square" rtlCol="0" anchor="ctr"/>
          <a:lstStyle/>
          <a:p>
            <a:pPr indent="0" marL="0">
              <a:lnSpc>
                <a:spcPts val="2100"/>
              </a:lnSpc>
              <a:buNone/>
            </a:pPr>
            <a:r>
              <a:rPr lang="en-US" sz="1400" dirty="0">
                <a:solidFill>
                  <a:srgbClr val="1F2937"/>
                </a:solidFill>
                <a:latin typeface="Calibri" pitchFamily="34" charset="0"/>
                <a:ea typeface="Calibri" pitchFamily="34" charset="-122"/>
                <a:cs typeface="Calibri" pitchFamily="34" charset="-120"/>
              </a:rPr>
              <a:t>Every experiment so far measured "success" as: did the attack change the BUY/SELL signal relative to what the model would have said without interference? But an attacker doesn't care about the signal itself — they care about losing the trader money. So a new metric was introduced: for every attack that did flip the signal, we checked whether it also produced a negative cumulative return (compared to the unattacked baseline) over the following 10, 20, or ~750 trading days (about 3 years).</a:t>
            </a:r>
            <a:endParaRPr lang="en-US" sz="1400" dirty="0"/>
          </a:p>
        </p:txBody>
      </p:sp>
      <p:sp>
        <p:nvSpPr>
          <p:cNvPr id="5" name="Shape 3"/>
          <p:cNvSpPr/>
          <p:nvPr/>
        </p:nvSpPr>
        <p:spPr>
          <a:xfrm>
            <a:off x="548640" y="3063240"/>
            <a:ext cx="3566160" cy="2148840"/>
          </a:xfrm>
          <a:prstGeom prst="rect">
            <a:avLst/>
          </a:prstGeom>
          <a:solidFill>
            <a:srgbClr val="F4F5F7"/>
          </a:solidFill>
          <a:ln w="12700">
            <a:solidFill>
              <a:srgbClr val="F4F5F7"/>
            </a:solidFill>
            <a:prstDash val="solid"/>
          </a:ln>
        </p:spPr>
      </p:sp>
      <p:sp>
        <p:nvSpPr>
          <p:cNvPr id="6" name="Text 4"/>
          <p:cNvSpPr/>
          <p:nvPr/>
        </p:nvSpPr>
        <p:spPr>
          <a:xfrm>
            <a:off x="777240" y="3200400"/>
            <a:ext cx="3108960" cy="502920"/>
          </a:xfrm>
          <a:prstGeom prst="rect">
            <a:avLst/>
          </a:prstGeom>
          <a:noFill/>
          <a:ln/>
        </p:spPr>
        <p:txBody>
          <a:bodyPr wrap="square" rtlCol="0" anchor="ctr"/>
          <a:lstStyle/>
          <a:p>
            <a:pPr indent="0" marL="0">
              <a:buNone/>
            </a:pPr>
            <a:r>
              <a:rPr lang="en-US" sz="1450" b="1" dirty="0">
                <a:solidFill>
                  <a:srgbClr val="1F2937"/>
                </a:solidFill>
                <a:latin typeface="Georgia" pitchFamily="34" charset="0"/>
                <a:ea typeface="Georgia" pitchFamily="34" charset="-122"/>
                <a:cs typeface="Georgia" pitchFamily="34" charset="-120"/>
              </a:rPr>
              <a:t>10 days after the attack</a:t>
            </a:r>
            <a:endParaRPr lang="en-US" sz="1450" dirty="0"/>
          </a:p>
        </p:txBody>
      </p:sp>
      <p:sp>
        <p:nvSpPr>
          <p:cNvPr id="7" name="Text 5"/>
          <p:cNvSpPr/>
          <p:nvPr/>
        </p:nvSpPr>
        <p:spPr>
          <a:xfrm>
            <a:off x="777240" y="3749040"/>
            <a:ext cx="3108960" cy="1371600"/>
          </a:xfrm>
          <a:prstGeom prst="rect">
            <a:avLst/>
          </a:prstGeom>
          <a:noFill/>
          <a:ln/>
        </p:spPr>
        <p:txBody>
          <a:bodyPr wrap="square" rtlCol="0" anchor="t"/>
          <a:lstStyle/>
          <a:p>
            <a:pPr indent="0" marL="0">
              <a:lnSpc>
                <a:spcPts val="1500"/>
              </a:lnSpc>
              <a:buNone/>
            </a:pPr>
            <a:r>
              <a:rPr lang="en-US" sz="1150" dirty="0">
                <a:solidFill>
                  <a:srgbClr val="1F2937"/>
                </a:solidFill>
                <a:latin typeface="Calibri" pitchFamily="34" charset="0"/>
                <a:ea typeface="Calibri" pitchFamily="34" charset="-122"/>
                <a:cs typeface="Calibri" pitchFamily="34" charset="-120"/>
              </a:rPr>
              <a:t>Financial success rate mostly between 0% and 40% — often close to zero. A flipped signal usually does not hurt returns in the very short term.</a:t>
            </a:r>
            <a:endParaRPr lang="en-US" sz="1150" dirty="0"/>
          </a:p>
        </p:txBody>
      </p:sp>
      <p:sp>
        <p:nvSpPr>
          <p:cNvPr id="8" name="Shape 6"/>
          <p:cNvSpPr/>
          <p:nvPr/>
        </p:nvSpPr>
        <p:spPr>
          <a:xfrm>
            <a:off x="4343400" y="3063240"/>
            <a:ext cx="3566160" cy="2148840"/>
          </a:xfrm>
          <a:prstGeom prst="rect">
            <a:avLst/>
          </a:prstGeom>
          <a:solidFill>
            <a:srgbClr val="F4F5F7"/>
          </a:solidFill>
          <a:ln w="12700">
            <a:solidFill>
              <a:srgbClr val="F4F5F7"/>
            </a:solidFill>
            <a:prstDash val="solid"/>
          </a:ln>
        </p:spPr>
      </p:sp>
      <p:sp>
        <p:nvSpPr>
          <p:cNvPr id="9" name="Text 7"/>
          <p:cNvSpPr/>
          <p:nvPr/>
        </p:nvSpPr>
        <p:spPr>
          <a:xfrm>
            <a:off x="4572000" y="3200400"/>
            <a:ext cx="3108960" cy="502920"/>
          </a:xfrm>
          <a:prstGeom prst="rect">
            <a:avLst/>
          </a:prstGeom>
          <a:noFill/>
          <a:ln/>
        </p:spPr>
        <p:txBody>
          <a:bodyPr wrap="square" rtlCol="0" anchor="ctr"/>
          <a:lstStyle/>
          <a:p>
            <a:pPr indent="0" marL="0">
              <a:buNone/>
            </a:pPr>
            <a:r>
              <a:rPr lang="en-US" sz="1450" b="1" dirty="0">
                <a:solidFill>
                  <a:srgbClr val="1F2937"/>
                </a:solidFill>
                <a:latin typeface="Georgia" pitchFamily="34" charset="0"/>
                <a:ea typeface="Georgia" pitchFamily="34" charset="-122"/>
                <a:cs typeface="Georgia" pitchFamily="34" charset="-120"/>
              </a:rPr>
              <a:t>20 days after the attack</a:t>
            </a:r>
            <a:endParaRPr lang="en-US" sz="1450" dirty="0"/>
          </a:p>
        </p:txBody>
      </p:sp>
      <p:sp>
        <p:nvSpPr>
          <p:cNvPr id="10" name="Text 8"/>
          <p:cNvSpPr/>
          <p:nvPr/>
        </p:nvSpPr>
        <p:spPr>
          <a:xfrm>
            <a:off x="4572000" y="3749040"/>
            <a:ext cx="3108960" cy="1371600"/>
          </a:xfrm>
          <a:prstGeom prst="rect">
            <a:avLst/>
          </a:prstGeom>
          <a:noFill/>
          <a:ln/>
        </p:spPr>
        <p:txBody>
          <a:bodyPr wrap="square" rtlCol="0" anchor="t"/>
          <a:lstStyle/>
          <a:p>
            <a:pPr indent="0" marL="0">
              <a:lnSpc>
                <a:spcPts val="1500"/>
              </a:lnSpc>
              <a:buNone/>
            </a:pPr>
            <a:r>
              <a:rPr lang="en-US" sz="1150" dirty="0">
                <a:solidFill>
                  <a:srgbClr val="1F2937"/>
                </a:solidFill>
                <a:latin typeface="Calibri" pitchFamily="34" charset="0"/>
                <a:ea typeface="Calibri" pitchFamily="34" charset="-122"/>
                <a:cs typeface="Calibri" pitchFamily="34" charset="-120"/>
              </a:rPr>
              <a:t>Broadly similar to the 10-day picture, with a slight increase for some setups (e.g. Rate of Change models).</a:t>
            </a:r>
            <a:endParaRPr lang="en-US" sz="1150" dirty="0"/>
          </a:p>
        </p:txBody>
      </p:sp>
      <p:sp>
        <p:nvSpPr>
          <p:cNvPr id="11" name="Shape 9"/>
          <p:cNvSpPr/>
          <p:nvPr/>
        </p:nvSpPr>
        <p:spPr>
          <a:xfrm>
            <a:off x="8138160" y="3063240"/>
            <a:ext cx="3566160" cy="2148840"/>
          </a:xfrm>
          <a:prstGeom prst="rect">
            <a:avLst/>
          </a:prstGeom>
          <a:solidFill>
            <a:srgbClr val="FDEDEC"/>
          </a:solidFill>
          <a:ln w="12700">
            <a:solidFill>
              <a:srgbClr val="F4F5F7"/>
            </a:solidFill>
            <a:prstDash val="solid"/>
          </a:ln>
        </p:spPr>
      </p:sp>
      <p:sp>
        <p:nvSpPr>
          <p:cNvPr id="12" name="Text 10"/>
          <p:cNvSpPr/>
          <p:nvPr/>
        </p:nvSpPr>
        <p:spPr>
          <a:xfrm>
            <a:off x="8366760" y="3200400"/>
            <a:ext cx="3108960" cy="502920"/>
          </a:xfrm>
          <a:prstGeom prst="rect">
            <a:avLst/>
          </a:prstGeom>
          <a:noFill/>
          <a:ln/>
        </p:spPr>
        <p:txBody>
          <a:bodyPr wrap="square" rtlCol="0" anchor="ctr"/>
          <a:lstStyle/>
          <a:p>
            <a:pPr indent="0" marL="0">
              <a:buNone/>
            </a:pPr>
            <a:r>
              <a:rPr lang="en-US" sz="1450" b="1" dirty="0">
                <a:solidFill>
                  <a:srgbClr val="C0392B"/>
                </a:solidFill>
                <a:latin typeface="Georgia" pitchFamily="34" charset="0"/>
                <a:ea typeface="Georgia" pitchFamily="34" charset="-122"/>
                <a:cs typeface="Georgia" pitchFamily="34" charset="-120"/>
              </a:rPr>
              <a:t>Full ~3-year horizon</a:t>
            </a:r>
            <a:endParaRPr lang="en-US" sz="1450" dirty="0"/>
          </a:p>
        </p:txBody>
      </p:sp>
      <p:sp>
        <p:nvSpPr>
          <p:cNvPr id="13" name="Text 11"/>
          <p:cNvSpPr/>
          <p:nvPr/>
        </p:nvSpPr>
        <p:spPr>
          <a:xfrm>
            <a:off x="8366760" y="3749040"/>
            <a:ext cx="3108960" cy="1371600"/>
          </a:xfrm>
          <a:prstGeom prst="rect">
            <a:avLst/>
          </a:prstGeom>
          <a:noFill/>
          <a:ln/>
        </p:spPr>
        <p:txBody>
          <a:bodyPr wrap="square" rtlCol="0" anchor="t"/>
          <a:lstStyle/>
          <a:p>
            <a:pPr indent="0" marL="0">
              <a:lnSpc>
                <a:spcPts val="1500"/>
              </a:lnSpc>
              <a:buNone/>
            </a:pPr>
            <a:r>
              <a:rPr lang="en-US" sz="1150" dirty="0">
                <a:solidFill>
                  <a:srgbClr val="1F2937"/>
                </a:solidFill>
                <a:latin typeface="Calibri" pitchFamily="34" charset="0"/>
                <a:ea typeface="Calibri" pitchFamily="34" charset="-122"/>
                <a:cs typeface="Calibri" pitchFamily="34" charset="-120"/>
              </a:rPr>
              <a:t>Financial success climbs sharply — up to 78% for LSTM_cumulative under Moving Average, and 46% for LSTM 13y under Rate of Change.</a:t>
            </a:r>
            <a:endParaRPr lang="en-US" sz="1150" dirty="0"/>
          </a:p>
        </p:txBody>
      </p:sp>
      <p:sp>
        <p:nvSpPr>
          <p:cNvPr id="14" name="Text 12"/>
          <p:cNvSpPr/>
          <p:nvPr/>
        </p:nvSpPr>
        <p:spPr>
          <a:xfrm>
            <a:off x="548640" y="5440680"/>
            <a:ext cx="11064240" cy="822960"/>
          </a:xfrm>
          <a:prstGeom prst="rect">
            <a:avLst/>
          </a:prstGeom>
          <a:noFill/>
          <a:ln/>
        </p:spPr>
        <p:txBody>
          <a:bodyPr wrap="square" rtlCol="0" anchor="ctr"/>
          <a:lstStyle/>
          <a:p>
            <a:pPr indent="0" marL="0">
              <a:lnSpc>
                <a:spcPts val="1800"/>
              </a:lnSpc>
              <a:buNone/>
            </a:pPr>
            <a:r>
              <a:rPr lang="en-US" sz="1350" i="1" dirty="0">
                <a:solidFill>
                  <a:srgbClr val="1F2937"/>
                </a:solidFill>
                <a:latin typeface="Calibri" pitchFamily="34" charset="0"/>
                <a:ea typeface="Calibri" pitchFamily="34" charset="-122"/>
                <a:cs typeface="Calibri" pitchFamily="34" charset="-120"/>
              </a:rPr>
              <a:t>In other words: an attack that looks harmless after 10–20 days can still be the beginning of a real, compounding loss further down the line. Short-term monitoring alone would miss most of the financially meaningful attacks.</a:t>
            </a:r>
            <a:endParaRPr lang="en-US" sz="1350" dirty="0"/>
          </a:p>
        </p:txBody>
      </p:sp>
      <p:sp>
        <p:nvSpPr>
          <p:cNvPr id="15" name="Text 13"/>
          <p:cNvSpPr/>
          <p:nvPr/>
        </p:nvSpPr>
        <p:spPr>
          <a:xfrm>
            <a:off x="11612880" y="6492240"/>
            <a:ext cx="45720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74320"/>
          </a:xfrm>
          <a:prstGeom prst="rect">
            <a:avLst/>
          </a:prstGeom>
          <a:noFill/>
          <a:ln/>
        </p:spPr>
        <p:txBody>
          <a:bodyPr wrap="square" rtlCol="0" anchor="ctr"/>
          <a:lstStyle/>
          <a:p>
            <a:pPr indent="0" marL="0">
              <a:buNone/>
            </a:pPr>
            <a:r>
              <a:rPr lang="en-US" sz="1200" b="1" spc="200" kern="0" dirty="0">
                <a:solidFill>
                  <a:srgbClr val="C0392B"/>
                </a:solidFill>
                <a:latin typeface="Calibri" pitchFamily="34" charset="0"/>
                <a:ea typeface="Calibri" pitchFamily="34" charset="-122"/>
                <a:cs typeface="Calibri" pitchFamily="34" charset="-120"/>
              </a:rPr>
              <a:t>EXPERIMENT 5 — CAN A MACHINE LEARNING MODEL FIND THE VULNERABLE DAYS?</a:t>
            </a:r>
            <a:endParaRPr lang="en-US" sz="1200" dirty="0"/>
          </a:p>
        </p:txBody>
      </p:sp>
      <p:sp>
        <p:nvSpPr>
          <p:cNvPr id="3" name="Text 1"/>
          <p:cNvSpPr/>
          <p:nvPr/>
        </p:nvSpPr>
        <p:spPr>
          <a:xfrm>
            <a:off x="548640" y="594360"/>
            <a:ext cx="11064240" cy="1005840"/>
          </a:xfrm>
          <a:prstGeom prst="rect">
            <a:avLst/>
          </a:prstGeom>
          <a:noFill/>
          <a:ln/>
        </p:spPr>
        <p:txBody>
          <a:bodyPr wrap="square" rtlCol="0" anchor="ctr"/>
          <a:lstStyle/>
          <a:p>
            <a:pPr algn="l" indent="0" marL="0">
              <a:buNone/>
            </a:pPr>
            <a:r>
              <a:rPr lang="en-US" sz="2700" b="1" dirty="0">
                <a:solidFill>
                  <a:srgbClr val="1A1D29"/>
                </a:solidFill>
                <a:latin typeface="Georgia" pitchFamily="34" charset="0"/>
                <a:ea typeface="Georgia" pitchFamily="34" charset="-122"/>
                <a:cs typeface="Georgia" pitchFamily="34" charset="-120"/>
              </a:rPr>
              <a:t>We tried to automate attack timing — with limited</a:t>
            </a:r>
            <a:endParaRPr lang="en-US" sz="2700" dirty="0"/>
          </a:p>
          <a:p>
            <a:pPr algn="l" indent="0" marL="0">
              <a:buNone/>
            </a:pPr>
            <a:r>
              <a:rPr lang="en-US" sz="2700" b="1" dirty="0">
                <a:solidFill>
                  <a:srgbClr val="1A1D29"/>
                </a:solidFill>
                <a:latin typeface="Georgia" pitchFamily="34" charset="0"/>
                <a:ea typeface="Georgia" pitchFamily="34" charset="-122"/>
                <a:cs typeface="Georgia" pitchFamily="34" charset="-120"/>
              </a:rPr>
              <a:t>success</a:t>
            </a:r>
            <a:endParaRPr lang="en-US" sz="2700" dirty="0"/>
          </a:p>
        </p:txBody>
      </p:sp>
      <p:sp>
        <p:nvSpPr>
          <p:cNvPr id="4" name="Text 2"/>
          <p:cNvSpPr/>
          <p:nvPr/>
        </p:nvSpPr>
        <p:spPr>
          <a:xfrm>
            <a:off x="548640" y="1554480"/>
            <a:ext cx="11064240" cy="1371600"/>
          </a:xfrm>
          <a:prstGeom prst="rect">
            <a:avLst/>
          </a:prstGeom>
          <a:noFill/>
          <a:ln/>
        </p:spPr>
        <p:txBody>
          <a:bodyPr wrap="square" rtlCol="0" anchor="ctr"/>
          <a:lstStyle/>
          <a:p>
            <a:pPr indent="0" marL="0">
              <a:lnSpc>
                <a:spcPts val="2100"/>
              </a:lnSpc>
              <a:buNone/>
            </a:pPr>
            <a:r>
              <a:rPr lang="en-US" sz="1400" dirty="0">
                <a:solidFill>
                  <a:srgbClr val="1F2937"/>
                </a:solidFill>
                <a:latin typeface="Calibri" pitchFamily="34" charset="0"/>
                <a:ea typeface="Calibri" pitchFamily="34" charset="-122"/>
                <a:cs typeface="Calibri" pitchFamily="34" charset="-120"/>
              </a:rPr>
              <a:t>So far, the "best" timing policy (near_strategy_boundary) required inside knowledge of the trading model — not something a real attacker would normally have. So the next question was: can a separate classifier, trained only on publicly observable market data (open, high, low, close, volume, and 141 engineered technical features), learn to spot good attack days on its own? A dataset of past attacks and their outcomes was built, and several classifiers (gradient boosting, random forest, logistic regression) were trained and compared.</a:t>
            </a:r>
            <a:endParaRPr lang="en-US" sz="1400" dirty="0"/>
          </a:p>
        </p:txBody>
      </p:sp>
      <p:sp>
        <p:nvSpPr>
          <p:cNvPr id="5" name="Shape 3"/>
          <p:cNvSpPr/>
          <p:nvPr/>
        </p:nvSpPr>
        <p:spPr>
          <a:xfrm>
            <a:off x="548640" y="3200400"/>
            <a:ext cx="3566160" cy="1920240"/>
          </a:xfrm>
          <a:prstGeom prst="rect">
            <a:avLst/>
          </a:prstGeom>
          <a:solidFill>
            <a:srgbClr val="F4F5F7"/>
          </a:solidFill>
          <a:ln w="12700">
            <a:solidFill>
              <a:srgbClr val="F4F5F7"/>
            </a:solidFill>
            <a:prstDash val="solid"/>
          </a:ln>
        </p:spPr>
      </p:sp>
      <p:sp>
        <p:nvSpPr>
          <p:cNvPr id="6" name="Text 4"/>
          <p:cNvSpPr/>
          <p:nvPr/>
        </p:nvSpPr>
        <p:spPr>
          <a:xfrm>
            <a:off x="777240" y="3337560"/>
            <a:ext cx="3108960" cy="685800"/>
          </a:xfrm>
          <a:prstGeom prst="rect">
            <a:avLst/>
          </a:prstGeom>
          <a:noFill/>
          <a:ln/>
        </p:spPr>
        <p:txBody>
          <a:bodyPr wrap="square" rtlCol="0" anchor="ctr"/>
          <a:lstStyle/>
          <a:p>
            <a:pPr indent="0" marL="0">
              <a:buNone/>
            </a:pPr>
            <a:r>
              <a:rPr lang="en-US" sz="3000" b="1" dirty="0">
                <a:solidFill>
                  <a:srgbClr val="2874A6"/>
                </a:solidFill>
                <a:latin typeface="Georgia" pitchFamily="34" charset="0"/>
                <a:ea typeface="Georgia" pitchFamily="34" charset="-122"/>
                <a:cs typeface="Georgia" pitchFamily="34" charset="-120"/>
              </a:rPr>
              <a:t>141</a:t>
            </a:r>
            <a:endParaRPr lang="en-US" sz="3000" dirty="0"/>
          </a:p>
        </p:txBody>
      </p:sp>
      <p:sp>
        <p:nvSpPr>
          <p:cNvPr id="7" name="Text 5"/>
          <p:cNvSpPr/>
          <p:nvPr/>
        </p:nvSpPr>
        <p:spPr>
          <a:xfrm>
            <a:off x="777240" y="3977640"/>
            <a:ext cx="3108960" cy="1051560"/>
          </a:xfrm>
          <a:prstGeom prst="rect">
            <a:avLst/>
          </a:prstGeom>
          <a:noFill/>
          <a:ln/>
        </p:spPr>
        <p:txBody>
          <a:bodyPr wrap="square" rtlCol="0" anchor="t"/>
          <a:lstStyle/>
          <a:p>
            <a:pPr indent="0" marL="0">
              <a:lnSpc>
                <a:spcPts val="1500"/>
              </a:lnSpc>
              <a:buNone/>
            </a:pPr>
            <a:r>
              <a:rPr lang="en-US" sz="1150" dirty="0">
                <a:solidFill>
                  <a:srgbClr val="1F2937"/>
                </a:solidFill>
                <a:latin typeface="Calibri" pitchFamily="34" charset="0"/>
                <a:ea typeface="Calibri" pitchFamily="34" charset="-122"/>
                <a:cs typeface="Calibri" pitchFamily="34" charset="-120"/>
              </a:rPr>
              <a:t>market-derived features engineered per day (returns, volatility, RSI, MACD, Bollinger width, trend strength, and more).</a:t>
            </a:r>
            <a:endParaRPr lang="en-US" sz="1150" dirty="0"/>
          </a:p>
        </p:txBody>
      </p:sp>
      <p:sp>
        <p:nvSpPr>
          <p:cNvPr id="8" name="Shape 6"/>
          <p:cNvSpPr/>
          <p:nvPr/>
        </p:nvSpPr>
        <p:spPr>
          <a:xfrm>
            <a:off x="4343400" y="3200400"/>
            <a:ext cx="3566160" cy="1920240"/>
          </a:xfrm>
          <a:prstGeom prst="rect">
            <a:avLst/>
          </a:prstGeom>
          <a:solidFill>
            <a:srgbClr val="F4F5F7"/>
          </a:solidFill>
          <a:ln w="12700">
            <a:solidFill>
              <a:srgbClr val="F4F5F7"/>
            </a:solidFill>
            <a:prstDash val="solid"/>
          </a:ln>
        </p:spPr>
      </p:sp>
      <p:sp>
        <p:nvSpPr>
          <p:cNvPr id="9" name="Text 7"/>
          <p:cNvSpPr/>
          <p:nvPr/>
        </p:nvSpPr>
        <p:spPr>
          <a:xfrm>
            <a:off x="4572000" y="3337560"/>
            <a:ext cx="3108960" cy="685800"/>
          </a:xfrm>
          <a:prstGeom prst="rect">
            <a:avLst/>
          </a:prstGeom>
          <a:noFill/>
          <a:ln/>
        </p:spPr>
        <p:txBody>
          <a:bodyPr wrap="square" rtlCol="0" anchor="ctr"/>
          <a:lstStyle/>
          <a:p>
            <a:pPr indent="0" marL="0">
              <a:buNone/>
            </a:pPr>
            <a:r>
              <a:rPr lang="en-US" sz="3000" b="1" dirty="0">
                <a:solidFill>
                  <a:srgbClr val="2874A6"/>
                </a:solidFill>
                <a:latin typeface="Georgia" pitchFamily="34" charset="0"/>
                <a:ea typeface="Georgia" pitchFamily="34" charset="-122"/>
                <a:cs typeface="Georgia" pitchFamily="34" charset="-120"/>
              </a:rPr>
              <a:t>0.38</a:t>
            </a:r>
            <a:endParaRPr lang="en-US" sz="3000" dirty="0"/>
          </a:p>
        </p:txBody>
      </p:sp>
      <p:sp>
        <p:nvSpPr>
          <p:cNvPr id="10" name="Text 8"/>
          <p:cNvSpPr/>
          <p:nvPr/>
        </p:nvSpPr>
        <p:spPr>
          <a:xfrm>
            <a:off x="4572000" y="3977640"/>
            <a:ext cx="3108960" cy="1051560"/>
          </a:xfrm>
          <a:prstGeom prst="rect">
            <a:avLst/>
          </a:prstGeom>
          <a:noFill/>
          <a:ln/>
        </p:spPr>
        <p:txBody>
          <a:bodyPr wrap="square" rtlCol="0" anchor="t"/>
          <a:lstStyle/>
          <a:p>
            <a:pPr indent="0" marL="0">
              <a:lnSpc>
                <a:spcPts val="1500"/>
              </a:lnSpc>
              <a:buNone/>
            </a:pPr>
            <a:r>
              <a:rPr lang="en-US" sz="1150" dirty="0">
                <a:solidFill>
                  <a:srgbClr val="1F2937"/>
                </a:solidFill>
                <a:latin typeface="Calibri" pitchFamily="34" charset="0"/>
                <a:ea typeface="Calibri" pitchFamily="34" charset="-122"/>
                <a:cs typeface="Calibri" pitchFamily="34" charset="-120"/>
              </a:rPr>
              <a:t>best PR-AUC achieved (Random Forest) — a weak score, reflecting how rare and hard-to-predict truly damaging attack days are.</a:t>
            </a:r>
            <a:endParaRPr lang="en-US" sz="1150" dirty="0"/>
          </a:p>
        </p:txBody>
      </p:sp>
      <p:sp>
        <p:nvSpPr>
          <p:cNvPr id="11" name="Shape 9"/>
          <p:cNvSpPr/>
          <p:nvPr/>
        </p:nvSpPr>
        <p:spPr>
          <a:xfrm>
            <a:off x="8138160" y="3200400"/>
            <a:ext cx="3566160" cy="1920240"/>
          </a:xfrm>
          <a:prstGeom prst="rect">
            <a:avLst/>
          </a:prstGeom>
          <a:solidFill>
            <a:srgbClr val="F4F5F7"/>
          </a:solidFill>
          <a:ln w="12700">
            <a:solidFill>
              <a:srgbClr val="F4F5F7"/>
            </a:solidFill>
            <a:prstDash val="solid"/>
          </a:ln>
        </p:spPr>
      </p:sp>
      <p:sp>
        <p:nvSpPr>
          <p:cNvPr id="12" name="Text 10"/>
          <p:cNvSpPr/>
          <p:nvPr/>
        </p:nvSpPr>
        <p:spPr>
          <a:xfrm>
            <a:off x="8366760" y="3337560"/>
            <a:ext cx="3108960" cy="685800"/>
          </a:xfrm>
          <a:prstGeom prst="rect">
            <a:avLst/>
          </a:prstGeom>
          <a:noFill/>
          <a:ln/>
        </p:spPr>
        <p:txBody>
          <a:bodyPr wrap="square" rtlCol="0" anchor="ctr"/>
          <a:lstStyle/>
          <a:p>
            <a:pPr indent="0" marL="0">
              <a:buNone/>
            </a:pPr>
            <a:r>
              <a:rPr lang="en-US" sz="3000" b="1" dirty="0">
                <a:solidFill>
                  <a:srgbClr val="2874A6"/>
                </a:solidFill>
                <a:latin typeface="Georgia" pitchFamily="34" charset="0"/>
                <a:ea typeface="Georgia" pitchFamily="34" charset="-122"/>
                <a:cs typeface="Georgia" pitchFamily="34" charset="-120"/>
              </a:rPr>
              <a:t>0.52</a:t>
            </a:r>
            <a:endParaRPr lang="en-US" sz="3000" dirty="0"/>
          </a:p>
        </p:txBody>
      </p:sp>
      <p:sp>
        <p:nvSpPr>
          <p:cNvPr id="13" name="Text 11"/>
          <p:cNvSpPr/>
          <p:nvPr/>
        </p:nvSpPr>
        <p:spPr>
          <a:xfrm>
            <a:off x="8366760" y="3977640"/>
            <a:ext cx="3108960" cy="1051560"/>
          </a:xfrm>
          <a:prstGeom prst="rect">
            <a:avLst/>
          </a:prstGeom>
          <a:noFill/>
          <a:ln/>
        </p:spPr>
        <p:txBody>
          <a:bodyPr wrap="square" rtlCol="0" anchor="t"/>
          <a:lstStyle/>
          <a:p>
            <a:pPr indent="0" marL="0">
              <a:lnSpc>
                <a:spcPts val="1500"/>
              </a:lnSpc>
              <a:buNone/>
            </a:pPr>
            <a:r>
              <a:rPr lang="en-US" sz="1150" dirty="0">
                <a:solidFill>
                  <a:srgbClr val="1F2937"/>
                </a:solidFill>
                <a:latin typeface="Calibri" pitchFamily="34" charset="0"/>
                <a:ea typeface="Calibri" pitchFamily="34" charset="-122"/>
                <a:cs typeface="Calibri" pitchFamily="34" charset="-120"/>
              </a:rPr>
              <a:t>F1-score on the "attack" class: the model over-predicts, flagging many days as vulnerable that in fact are not.</a:t>
            </a:r>
            <a:endParaRPr lang="en-US" sz="1150" dirty="0"/>
          </a:p>
        </p:txBody>
      </p:sp>
      <p:sp>
        <p:nvSpPr>
          <p:cNvPr id="14" name="Text 12"/>
          <p:cNvSpPr/>
          <p:nvPr/>
        </p:nvSpPr>
        <p:spPr>
          <a:xfrm>
            <a:off x="548640" y="5394960"/>
            <a:ext cx="11064240" cy="868680"/>
          </a:xfrm>
          <a:prstGeom prst="rect">
            <a:avLst/>
          </a:prstGeom>
          <a:noFill/>
          <a:ln/>
        </p:spPr>
        <p:txBody>
          <a:bodyPr wrap="square" rtlCol="0" anchor="ctr"/>
          <a:lstStyle/>
          <a:p>
            <a:pPr indent="0" marL="0">
              <a:lnSpc>
                <a:spcPts val="1800"/>
              </a:lnSpc>
              <a:buNone/>
            </a:pPr>
            <a:r>
              <a:rPr lang="en-US" sz="1300" i="1" dirty="0">
                <a:solidFill>
                  <a:srgbClr val="1F2937"/>
                </a:solidFill>
                <a:latin typeface="Calibri" pitchFamily="34" charset="0"/>
                <a:ea typeface="Calibri" pitchFamily="34" charset="-122"/>
                <a:cs typeface="Calibri" pitchFamily="34" charset="-120"/>
              </a:rPr>
              <a:t>Tellingly, the two most influential features for the model were the attack's own stated objective (force_buy / force_sell) — not any market condition. This suggests the model found very little genuine signal in observable price data about when an attack will succeed.</a:t>
            </a:r>
            <a:endParaRPr lang="en-US" sz="1300" dirty="0"/>
          </a:p>
        </p:txBody>
      </p:sp>
      <p:sp>
        <p:nvSpPr>
          <p:cNvPr id="15" name="Text 13"/>
          <p:cNvSpPr/>
          <p:nvPr/>
        </p:nvSpPr>
        <p:spPr>
          <a:xfrm>
            <a:off x="11612880" y="6492240"/>
            <a:ext cx="45720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74320"/>
          </a:xfrm>
          <a:prstGeom prst="rect">
            <a:avLst/>
          </a:prstGeom>
          <a:noFill/>
          <a:ln/>
        </p:spPr>
        <p:txBody>
          <a:bodyPr wrap="square" rtlCol="0" anchor="ctr"/>
          <a:lstStyle/>
          <a:p>
            <a:pPr indent="0" marL="0">
              <a:buNone/>
            </a:pPr>
            <a:r>
              <a:rPr lang="en-US" sz="1200" b="1" spc="200" kern="0" dirty="0">
                <a:solidFill>
                  <a:srgbClr val="C0392B"/>
                </a:solidFill>
                <a:latin typeface="Calibri" pitchFamily="34" charset="0"/>
                <a:ea typeface="Calibri" pitchFamily="34" charset="-122"/>
                <a:cs typeface="Calibri" pitchFamily="34" charset="-120"/>
              </a:rPr>
              <a:t>EXPERIMENT 6 — GIVING THE MODEL MORE DATA TO LEARN FROM</a:t>
            </a:r>
            <a:endParaRPr lang="en-US" sz="1200" dirty="0"/>
          </a:p>
        </p:txBody>
      </p:sp>
      <p:sp>
        <p:nvSpPr>
          <p:cNvPr id="3" name="Text 1"/>
          <p:cNvSpPr/>
          <p:nvPr/>
        </p:nvSpPr>
        <p:spPr>
          <a:xfrm>
            <a:off x="548640" y="594360"/>
            <a:ext cx="11064240" cy="822960"/>
          </a:xfrm>
          <a:prstGeom prst="rect">
            <a:avLst/>
          </a:prstGeom>
          <a:noFill/>
          <a:ln/>
        </p:spPr>
        <p:txBody>
          <a:bodyPr wrap="square" rtlCol="0" anchor="ctr"/>
          <a:lstStyle/>
          <a:p>
            <a:pPr algn="l" indent="0" marL="0">
              <a:buNone/>
            </a:pPr>
            <a:r>
              <a:rPr lang="en-US" sz="2700" b="1" dirty="0">
                <a:solidFill>
                  <a:srgbClr val="1A1D29"/>
                </a:solidFill>
                <a:latin typeface="Georgia" pitchFamily="34" charset="0"/>
                <a:ea typeface="Georgia" pitchFamily="34" charset="-122"/>
                <a:cs typeface="Georgia" pitchFamily="34" charset="-120"/>
              </a:rPr>
              <a:t>More training diversity didn't close the gap</a:t>
            </a:r>
            <a:endParaRPr lang="en-US" sz="2700" dirty="0"/>
          </a:p>
        </p:txBody>
      </p:sp>
      <p:sp>
        <p:nvSpPr>
          <p:cNvPr id="4" name="Text 2"/>
          <p:cNvSpPr/>
          <p:nvPr/>
        </p:nvSpPr>
        <p:spPr>
          <a:xfrm>
            <a:off x="548640" y="1554480"/>
            <a:ext cx="11064240" cy="1234440"/>
          </a:xfrm>
          <a:prstGeom prst="rect">
            <a:avLst/>
          </a:prstGeom>
          <a:noFill/>
          <a:ln/>
        </p:spPr>
        <p:txBody>
          <a:bodyPr wrap="square" rtlCol="0" anchor="ctr"/>
          <a:lstStyle/>
          <a:p>
            <a:pPr indent="0" marL="0">
              <a:lnSpc>
                <a:spcPts val="2100"/>
              </a:lnSpc>
              <a:buNone/>
            </a:pPr>
            <a:r>
              <a:rPr lang="en-US" sz="1400" dirty="0">
                <a:solidFill>
                  <a:srgbClr val="1F2937"/>
                </a:solidFill>
                <a:latin typeface="Calibri" pitchFamily="34" charset="0"/>
                <a:ea typeface="Calibri" pitchFamily="34" charset="-122"/>
                <a:cs typeface="Calibri" pitchFamily="34" charset="-120"/>
              </a:rPr>
              <a:t>Since the classifier from Experiment 5 performed weakly, we asked whether it simply hadn't seen enough variety. Its training dataset was extended with two new scenarios — attacks evaluated over a shorter 10-day window (instead of only 20 days), and attacks on a third stock (AMZN) alongside the original GOOGL and AAPL. The retrained model was then deployed as its own "timing policy" and compared head-to-head against the timing policies from Experiment 1 on a fresh, unseen test period.</a:t>
            </a:r>
            <a:endParaRPr lang="en-US" sz="1400" dirty="0"/>
          </a:p>
        </p:txBody>
      </p:sp>
      <p:sp>
        <p:nvSpPr>
          <p:cNvPr id="5" name="Shape 3"/>
          <p:cNvSpPr/>
          <p:nvPr/>
        </p:nvSpPr>
        <p:spPr>
          <a:xfrm>
            <a:off x="548640" y="3017520"/>
            <a:ext cx="5349240" cy="1874520"/>
          </a:xfrm>
          <a:prstGeom prst="rect">
            <a:avLst/>
          </a:prstGeom>
          <a:solidFill>
            <a:srgbClr val="F4F5F7"/>
          </a:solidFill>
          <a:ln w="12700">
            <a:solidFill>
              <a:srgbClr val="F4F5F7"/>
            </a:solidFill>
            <a:prstDash val="solid"/>
          </a:ln>
        </p:spPr>
      </p:sp>
      <p:sp>
        <p:nvSpPr>
          <p:cNvPr id="6" name="Text 4"/>
          <p:cNvSpPr/>
          <p:nvPr/>
        </p:nvSpPr>
        <p:spPr>
          <a:xfrm>
            <a:off x="822960" y="3154680"/>
            <a:ext cx="2194560" cy="777240"/>
          </a:xfrm>
          <a:prstGeom prst="rect">
            <a:avLst/>
          </a:prstGeom>
          <a:noFill/>
          <a:ln/>
        </p:spPr>
        <p:txBody>
          <a:bodyPr wrap="square" rtlCol="0" anchor="ctr"/>
          <a:lstStyle/>
          <a:p>
            <a:pPr indent="0" marL="0">
              <a:buNone/>
            </a:pPr>
            <a:r>
              <a:rPr lang="en-US" sz="3600" b="1" dirty="0">
                <a:solidFill>
                  <a:srgbClr val="1E8449"/>
                </a:solidFill>
                <a:latin typeface="Georgia" pitchFamily="34" charset="0"/>
                <a:ea typeface="Georgia" pitchFamily="34" charset="-122"/>
                <a:cs typeface="Georgia" pitchFamily="34" charset="-120"/>
              </a:rPr>
              <a:t>29%</a:t>
            </a:r>
            <a:endParaRPr lang="en-US" sz="3600" dirty="0"/>
          </a:p>
        </p:txBody>
      </p:sp>
      <p:sp>
        <p:nvSpPr>
          <p:cNvPr id="7" name="Text 5"/>
          <p:cNvSpPr/>
          <p:nvPr/>
        </p:nvSpPr>
        <p:spPr>
          <a:xfrm>
            <a:off x="822960" y="3886200"/>
            <a:ext cx="4800600" cy="914400"/>
          </a:xfrm>
          <a:prstGeom prst="rect">
            <a:avLst/>
          </a:prstGeom>
          <a:noFill/>
          <a:ln/>
        </p:spPr>
        <p:txBody>
          <a:bodyPr wrap="square" rtlCol="0" anchor="ctr"/>
          <a:lstStyle/>
          <a:p>
            <a:pPr indent="0" marL="0">
              <a:lnSpc>
                <a:spcPts val="1600"/>
              </a:lnSpc>
              <a:buNone/>
            </a:pPr>
            <a:r>
              <a:rPr lang="en-US" sz="1250" dirty="0">
                <a:solidFill>
                  <a:srgbClr val="1F2937"/>
                </a:solidFill>
                <a:latin typeface="Calibri" pitchFamily="34" charset="0"/>
                <a:ea typeface="Calibri" pitchFamily="34" charset="-122"/>
                <a:cs typeface="Calibri" pitchFamily="34" charset="-120"/>
              </a:rPr>
              <a:t>of the ML-selected attacks successfully flipped the trading signal — making it the 2nd-best timing policy for that purpose, out of all policies tested.</a:t>
            </a:r>
            <a:endParaRPr lang="en-US" sz="1250" dirty="0"/>
          </a:p>
        </p:txBody>
      </p:sp>
      <p:sp>
        <p:nvSpPr>
          <p:cNvPr id="8" name="Shape 6"/>
          <p:cNvSpPr/>
          <p:nvPr/>
        </p:nvSpPr>
        <p:spPr>
          <a:xfrm>
            <a:off x="6263640" y="3017520"/>
            <a:ext cx="5349240" cy="1874520"/>
          </a:xfrm>
          <a:prstGeom prst="rect">
            <a:avLst/>
          </a:prstGeom>
          <a:solidFill>
            <a:srgbClr val="F4F5F7"/>
          </a:solidFill>
          <a:ln w="12700">
            <a:solidFill>
              <a:srgbClr val="F4F5F7"/>
            </a:solidFill>
            <a:prstDash val="solid"/>
          </a:ln>
        </p:spPr>
      </p:sp>
      <p:sp>
        <p:nvSpPr>
          <p:cNvPr id="9" name="Text 7"/>
          <p:cNvSpPr/>
          <p:nvPr/>
        </p:nvSpPr>
        <p:spPr>
          <a:xfrm>
            <a:off x="6537960" y="3154680"/>
            <a:ext cx="2194560" cy="777240"/>
          </a:xfrm>
          <a:prstGeom prst="rect">
            <a:avLst/>
          </a:prstGeom>
          <a:noFill/>
          <a:ln/>
        </p:spPr>
        <p:txBody>
          <a:bodyPr wrap="square" rtlCol="0" anchor="ctr"/>
          <a:lstStyle/>
          <a:p>
            <a:pPr indent="0" marL="0">
              <a:buNone/>
            </a:pPr>
            <a:r>
              <a:rPr lang="en-US" sz="3600" b="1" dirty="0">
                <a:solidFill>
                  <a:srgbClr val="C0392B"/>
                </a:solidFill>
                <a:latin typeface="Georgia" pitchFamily="34" charset="0"/>
                <a:ea typeface="Georgia" pitchFamily="34" charset="-122"/>
                <a:cs typeface="Georgia" pitchFamily="34" charset="-120"/>
              </a:rPr>
              <a:t>14%</a:t>
            </a:r>
            <a:endParaRPr lang="en-US" sz="3600" dirty="0"/>
          </a:p>
        </p:txBody>
      </p:sp>
      <p:sp>
        <p:nvSpPr>
          <p:cNvPr id="10" name="Text 8"/>
          <p:cNvSpPr/>
          <p:nvPr/>
        </p:nvSpPr>
        <p:spPr>
          <a:xfrm>
            <a:off x="6537960" y="3886200"/>
            <a:ext cx="4800600" cy="914400"/>
          </a:xfrm>
          <a:prstGeom prst="rect">
            <a:avLst/>
          </a:prstGeom>
          <a:noFill/>
          <a:ln/>
        </p:spPr>
        <p:txBody>
          <a:bodyPr wrap="square" rtlCol="0" anchor="ctr"/>
          <a:lstStyle/>
          <a:p>
            <a:pPr indent="0" marL="0">
              <a:lnSpc>
                <a:spcPts val="1600"/>
              </a:lnSpc>
              <a:buNone/>
            </a:pPr>
            <a:r>
              <a:rPr lang="en-US" sz="1250" dirty="0">
                <a:solidFill>
                  <a:srgbClr val="1F2937"/>
                </a:solidFill>
                <a:latin typeface="Calibri" pitchFamily="34" charset="0"/>
                <a:ea typeface="Calibri" pitchFamily="34" charset="-122"/>
                <a:cs typeface="Calibri" pitchFamily="34" charset="-120"/>
              </a:rPr>
              <a:t>of those successful attacks actually produced a financial loss over the following 10–20 days — the 2nd-worst policy for real economic impact.</a:t>
            </a:r>
            <a:endParaRPr lang="en-US" sz="1250" dirty="0"/>
          </a:p>
        </p:txBody>
      </p:sp>
      <p:sp>
        <p:nvSpPr>
          <p:cNvPr id="11" name="Text 9"/>
          <p:cNvSpPr/>
          <p:nvPr/>
        </p:nvSpPr>
        <p:spPr>
          <a:xfrm>
            <a:off x="548640" y="5120640"/>
            <a:ext cx="11064240" cy="868680"/>
          </a:xfrm>
          <a:prstGeom prst="rect">
            <a:avLst/>
          </a:prstGeom>
          <a:noFill/>
          <a:ln/>
        </p:spPr>
        <p:txBody>
          <a:bodyPr wrap="square" rtlCol="0" anchor="ctr"/>
          <a:lstStyle/>
          <a:p>
            <a:pPr indent="0" marL="0">
              <a:lnSpc>
                <a:spcPts val="1800"/>
              </a:lnSpc>
              <a:buNone/>
            </a:pPr>
            <a:r>
              <a:rPr lang="en-US" sz="1350" i="1" dirty="0">
                <a:solidFill>
                  <a:srgbClr val="1F2937"/>
                </a:solidFill>
                <a:latin typeface="Calibri" pitchFamily="34" charset="0"/>
                <a:ea typeface="Calibri" pitchFamily="34" charset="-122"/>
                <a:cs typeface="Calibri" pitchFamily="34" charset="-120"/>
              </a:rPr>
              <a:t>This is the project's central discovery: a policy can be quite good at manipulating the model's decision while being poor at actually damaging the portfolio. The two goals do not automatically go together, and optimizing for one does not guarantee the other.</a:t>
            </a:r>
            <a:endParaRPr lang="en-US" sz="1350" dirty="0"/>
          </a:p>
        </p:txBody>
      </p:sp>
      <p:sp>
        <p:nvSpPr>
          <p:cNvPr id="12" name="Text 10"/>
          <p:cNvSpPr/>
          <p:nvPr/>
        </p:nvSpPr>
        <p:spPr>
          <a:xfrm>
            <a:off x="11612880" y="6492240"/>
            <a:ext cx="45720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74320"/>
          </a:xfrm>
          <a:prstGeom prst="rect">
            <a:avLst/>
          </a:prstGeom>
          <a:noFill/>
          <a:ln/>
        </p:spPr>
        <p:txBody>
          <a:bodyPr wrap="square" rtlCol="0" anchor="ctr"/>
          <a:lstStyle/>
          <a:p>
            <a:pPr indent="0" marL="0">
              <a:buNone/>
            </a:pPr>
            <a:r>
              <a:rPr lang="en-US" sz="1200" b="1" spc="200" kern="0" dirty="0">
                <a:solidFill>
                  <a:srgbClr val="C0392B"/>
                </a:solidFill>
                <a:latin typeface="Calibri" pitchFamily="34" charset="0"/>
                <a:ea typeface="Calibri" pitchFamily="34" charset="-122"/>
                <a:cs typeface="Calibri" pitchFamily="34" charset="-120"/>
              </a:rPr>
              <a:t>PUTTING IT ALL TOGETHER</a:t>
            </a:r>
            <a:endParaRPr lang="en-US" sz="1200" dirty="0"/>
          </a:p>
        </p:txBody>
      </p:sp>
      <p:sp>
        <p:nvSpPr>
          <p:cNvPr id="3" name="Text 1"/>
          <p:cNvSpPr/>
          <p:nvPr/>
        </p:nvSpPr>
        <p:spPr>
          <a:xfrm>
            <a:off x="548640" y="594360"/>
            <a:ext cx="11064240" cy="731520"/>
          </a:xfrm>
          <a:prstGeom prst="rect">
            <a:avLst/>
          </a:prstGeom>
          <a:noFill/>
          <a:ln/>
        </p:spPr>
        <p:txBody>
          <a:bodyPr wrap="square" rtlCol="0" anchor="ctr"/>
          <a:lstStyle/>
          <a:p>
            <a:pPr algn="l" indent="0" marL="0">
              <a:buNone/>
            </a:pPr>
            <a:r>
              <a:rPr lang="en-US" sz="2800" b="1" dirty="0">
                <a:solidFill>
                  <a:srgbClr val="1A1D29"/>
                </a:solidFill>
                <a:latin typeface="Georgia" pitchFamily="34" charset="0"/>
                <a:ea typeface="Georgia" pitchFamily="34" charset="-122"/>
                <a:cs typeface="Georgia" pitchFamily="34" charset="-120"/>
              </a:rPr>
              <a:t>What these six experiments tell us</a:t>
            </a:r>
            <a:endParaRPr lang="en-US" sz="2800" dirty="0"/>
          </a:p>
        </p:txBody>
      </p:sp>
      <p:sp>
        <p:nvSpPr>
          <p:cNvPr id="4" name="Shape 2"/>
          <p:cNvSpPr/>
          <p:nvPr/>
        </p:nvSpPr>
        <p:spPr>
          <a:xfrm>
            <a:off x="548640" y="1655064"/>
            <a:ext cx="118872" cy="118872"/>
          </a:xfrm>
          <a:prstGeom prst="ellipse">
            <a:avLst/>
          </a:prstGeom>
          <a:solidFill>
            <a:srgbClr val="2874A6"/>
          </a:solidFill>
          <a:ln w="12700">
            <a:solidFill>
              <a:srgbClr val="2874A6"/>
            </a:solidFill>
            <a:prstDash val="solid"/>
          </a:ln>
        </p:spPr>
      </p:sp>
      <p:sp>
        <p:nvSpPr>
          <p:cNvPr id="5" name="Text 3"/>
          <p:cNvSpPr/>
          <p:nvPr/>
        </p:nvSpPr>
        <p:spPr>
          <a:xfrm>
            <a:off x="868680" y="1508760"/>
            <a:ext cx="10698480" cy="320040"/>
          </a:xfrm>
          <a:prstGeom prst="rect">
            <a:avLst/>
          </a:prstGeom>
          <a:noFill/>
          <a:ln/>
        </p:spPr>
        <p:txBody>
          <a:bodyPr wrap="square" rtlCol="0" anchor="ctr"/>
          <a:lstStyle/>
          <a:p>
            <a:pPr indent="0" marL="0">
              <a:buNone/>
            </a:pPr>
            <a:r>
              <a:rPr lang="en-US" sz="1450" b="1" dirty="0">
                <a:solidFill>
                  <a:srgbClr val="1A1D29"/>
                </a:solidFill>
                <a:latin typeface="Calibri" pitchFamily="34" charset="0"/>
                <a:ea typeface="Calibri" pitchFamily="34" charset="-122"/>
                <a:cs typeface="Calibri" pitchFamily="34" charset="-120"/>
              </a:rPr>
              <a:t>Vulnerability depends on the strategy, not the market.</a:t>
            </a:r>
            <a:endParaRPr lang="en-US" sz="1450" dirty="0"/>
          </a:p>
        </p:txBody>
      </p:sp>
      <p:sp>
        <p:nvSpPr>
          <p:cNvPr id="6" name="Text 4"/>
          <p:cNvSpPr/>
          <p:nvPr/>
        </p:nvSpPr>
        <p:spPr>
          <a:xfrm>
            <a:off x="868680" y="1856232"/>
            <a:ext cx="10698480" cy="685800"/>
          </a:xfrm>
          <a:prstGeom prst="rect">
            <a:avLst/>
          </a:prstGeom>
          <a:noFill/>
          <a:ln/>
        </p:spPr>
        <p:txBody>
          <a:bodyPr wrap="square" rtlCol="0" anchor="ctr"/>
          <a:lstStyle/>
          <a:p>
            <a:pPr indent="0" marL="0">
              <a:lnSpc>
                <a:spcPts val="1500"/>
              </a:lnSpc>
              <a:buNone/>
            </a:pPr>
            <a:r>
              <a:rPr lang="en-US" sz="1200" dirty="0">
                <a:solidFill>
                  <a:srgbClr val="5B6270"/>
                </a:solidFill>
                <a:latin typeface="Calibri" pitchFamily="34" charset="0"/>
                <a:ea typeface="Calibri" pitchFamily="34" charset="-122"/>
                <a:cs typeface="Calibri" pitchFamily="34" charset="-120"/>
              </a:rPr>
              <a:t>Moving Average logic can be reliably attacked with tiny perturbations; Rate of Change and Bollinger Bands are structurally resistant because they average over longer windows, which naturally filters out single-step manipulation.</a:t>
            </a:r>
            <a:endParaRPr lang="en-US" sz="1200" dirty="0"/>
          </a:p>
        </p:txBody>
      </p:sp>
      <p:sp>
        <p:nvSpPr>
          <p:cNvPr id="7" name="Shape 5"/>
          <p:cNvSpPr/>
          <p:nvPr/>
        </p:nvSpPr>
        <p:spPr>
          <a:xfrm>
            <a:off x="548640" y="2788920"/>
            <a:ext cx="118872" cy="118872"/>
          </a:xfrm>
          <a:prstGeom prst="ellipse">
            <a:avLst/>
          </a:prstGeom>
          <a:solidFill>
            <a:srgbClr val="2874A6"/>
          </a:solidFill>
          <a:ln w="12700">
            <a:solidFill>
              <a:srgbClr val="2874A6"/>
            </a:solidFill>
            <a:prstDash val="solid"/>
          </a:ln>
        </p:spPr>
      </p:sp>
      <p:sp>
        <p:nvSpPr>
          <p:cNvPr id="8" name="Text 6"/>
          <p:cNvSpPr/>
          <p:nvPr/>
        </p:nvSpPr>
        <p:spPr>
          <a:xfrm>
            <a:off x="868680" y="2642616"/>
            <a:ext cx="10698480" cy="320040"/>
          </a:xfrm>
          <a:prstGeom prst="rect">
            <a:avLst/>
          </a:prstGeom>
          <a:noFill/>
          <a:ln/>
        </p:spPr>
        <p:txBody>
          <a:bodyPr wrap="square" rtlCol="0" anchor="ctr"/>
          <a:lstStyle/>
          <a:p>
            <a:pPr indent="0" marL="0">
              <a:buNone/>
            </a:pPr>
            <a:r>
              <a:rPr lang="en-US" sz="1450" b="1" dirty="0">
                <a:solidFill>
                  <a:srgbClr val="1A1D29"/>
                </a:solidFill>
                <a:latin typeface="Calibri" pitchFamily="34" charset="0"/>
                <a:ea typeface="Calibri" pitchFamily="34" charset="-122"/>
                <a:cs typeface="Calibri" pitchFamily="34" charset="-120"/>
              </a:rPr>
              <a:t>How a model is kept updated matters as much as its architecture.</a:t>
            </a:r>
            <a:endParaRPr lang="en-US" sz="1450" dirty="0"/>
          </a:p>
        </p:txBody>
      </p:sp>
      <p:sp>
        <p:nvSpPr>
          <p:cNvPr id="9" name="Text 7"/>
          <p:cNvSpPr/>
          <p:nvPr/>
        </p:nvSpPr>
        <p:spPr>
          <a:xfrm>
            <a:off x="868680" y="2990088"/>
            <a:ext cx="10698480" cy="685800"/>
          </a:xfrm>
          <a:prstGeom prst="rect">
            <a:avLst/>
          </a:prstGeom>
          <a:noFill/>
          <a:ln/>
        </p:spPr>
        <p:txBody>
          <a:bodyPr wrap="square" rtlCol="0" anchor="ctr"/>
          <a:lstStyle/>
          <a:p>
            <a:pPr indent="0" marL="0">
              <a:lnSpc>
                <a:spcPts val="1500"/>
              </a:lnSpc>
              <a:buNone/>
            </a:pPr>
            <a:r>
              <a:rPr lang="en-US" sz="1200" dirty="0">
                <a:solidFill>
                  <a:srgbClr val="5B6270"/>
                </a:solidFill>
                <a:latin typeface="Calibri" pitchFamily="34" charset="0"/>
                <a:ea typeface="Calibri" pitchFamily="34" charset="-122"/>
                <a:cs typeface="Calibri" pitchFamily="34" charset="-120"/>
              </a:rPr>
              <a:t>Frequent retraining on recent data (rolling window) was consistently the hardest setup to attack across every experiment, including after correcting the validation-time methodology.</a:t>
            </a:r>
            <a:endParaRPr lang="en-US" sz="1200" dirty="0"/>
          </a:p>
        </p:txBody>
      </p:sp>
      <p:sp>
        <p:nvSpPr>
          <p:cNvPr id="10" name="Shape 8"/>
          <p:cNvSpPr/>
          <p:nvPr/>
        </p:nvSpPr>
        <p:spPr>
          <a:xfrm>
            <a:off x="548640" y="3922776"/>
            <a:ext cx="118872" cy="118872"/>
          </a:xfrm>
          <a:prstGeom prst="ellipse">
            <a:avLst/>
          </a:prstGeom>
          <a:solidFill>
            <a:srgbClr val="2874A6"/>
          </a:solidFill>
          <a:ln w="12700">
            <a:solidFill>
              <a:srgbClr val="2874A6"/>
            </a:solidFill>
            <a:prstDash val="solid"/>
          </a:ln>
        </p:spPr>
      </p:sp>
      <p:sp>
        <p:nvSpPr>
          <p:cNvPr id="11" name="Text 9"/>
          <p:cNvSpPr/>
          <p:nvPr/>
        </p:nvSpPr>
        <p:spPr>
          <a:xfrm>
            <a:off x="868680" y="3776472"/>
            <a:ext cx="10698480" cy="320040"/>
          </a:xfrm>
          <a:prstGeom prst="rect">
            <a:avLst/>
          </a:prstGeom>
          <a:noFill/>
          <a:ln/>
        </p:spPr>
        <p:txBody>
          <a:bodyPr wrap="square" rtlCol="0" anchor="ctr"/>
          <a:lstStyle/>
          <a:p>
            <a:pPr indent="0" marL="0">
              <a:buNone/>
            </a:pPr>
            <a:r>
              <a:rPr lang="en-US" sz="1450" b="1" dirty="0">
                <a:solidFill>
                  <a:srgbClr val="1A1D29"/>
                </a:solidFill>
                <a:latin typeface="Calibri" pitchFamily="34" charset="0"/>
                <a:ea typeface="Calibri" pitchFamily="34" charset="-122"/>
                <a:cs typeface="Calibri" pitchFamily="34" charset="-120"/>
              </a:rPr>
              <a:t>Flipping a decision and causing financial harm are two different problems.</a:t>
            </a:r>
            <a:endParaRPr lang="en-US" sz="1450" dirty="0"/>
          </a:p>
        </p:txBody>
      </p:sp>
      <p:sp>
        <p:nvSpPr>
          <p:cNvPr id="12" name="Text 10"/>
          <p:cNvSpPr/>
          <p:nvPr/>
        </p:nvSpPr>
        <p:spPr>
          <a:xfrm>
            <a:off x="868680" y="4123944"/>
            <a:ext cx="10698480" cy="685800"/>
          </a:xfrm>
          <a:prstGeom prst="rect">
            <a:avLst/>
          </a:prstGeom>
          <a:noFill/>
          <a:ln/>
        </p:spPr>
        <p:txBody>
          <a:bodyPr wrap="square" rtlCol="0" anchor="ctr"/>
          <a:lstStyle/>
          <a:p>
            <a:pPr indent="0" marL="0">
              <a:lnSpc>
                <a:spcPts val="1500"/>
              </a:lnSpc>
              <a:buNone/>
            </a:pPr>
            <a:r>
              <a:rPr lang="en-US" sz="1200" dirty="0">
                <a:solidFill>
                  <a:srgbClr val="5B6270"/>
                </a:solidFill>
                <a:latin typeface="Calibri" pitchFamily="34" charset="0"/>
                <a:ea typeface="Calibri" pitchFamily="34" charset="-122"/>
                <a:cs typeface="Calibri" pitchFamily="34" charset="-120"/>
              </a:rPr>
              <a:t>Many attacks that successfully change the BUY/SELL signal have little or no negative effect on returns, especially in the short term — real damage often only appears over longer horizons.</a:t>
            </a:r>
            <a:endParaRPr lang="en-US" sz="1200" dirty="0"/>
          </a:p>
        </p:txBody>
      </p:sp>
      <p:sp>
        <p:nvSpPr>
          <p:cNvPr id="13" name="Shape 11"/>
          <p:cNvSpPr/>
          <p:nvPr/>
        </p:nvSpPr>
        <p:spPr>
          <a:xfrm>
            <a:off x="548640" y="5056632"/>
            <a:ext cx="118872" cy="118872"/>
          </a:xfrm>
          <a:prstGeom prst="ellipse">
            <a:avLst/>
          </a:prstGeom>
          <a:solidFill>
            <a:srgbClr val="2874A6"/>
          </a:solidFill>
          <a:ln w="12700">
            <a:solidFill>
              <a:srgbClr val="2874A6"/>
            </a:solidFill>
            <a:prstDash val="solid"/>
          </a:ln>
        </p:spPr>
      </p:sp>
      <p:sp>
        <p:nvSpPr>
          <p:cNvPr id="14" name="Text 12"/>
          <p:cNvSpPr/>
          <p:nvPr/>
        </p:nvSpPr>
        <p:spPr>
          <a:xfrm>
            <a:off x="868680" y="4910328"/>
            <a:ext cx="10698480" cy="320040"/>
          </a:xfrm>
          <a:prstGeom prst="rect">
            <a:avLst/>
          </a:prstGeom>
          <a:noFill/>
          <a:ln/>
        </p:spPr>
        <p:txBody>
          <a:bodyPr wrap="square" rtlCol="0" anchor="ctr"/>
          <a:lstStyle/>
          <a:p>
            <a:pPr indent="0" marL="0">
              <a:buNone/>
            </a:pPr>
            <a:r>
              <a:rPr lang="en-US" sz="1450" b="1" dirty="0">
                <a:solidFill>
                  <a:srgbClr val="1A1D29"/>
                </a:solidFill>
                <a:latin typeface="Calibri" pitchFamily="34" charset="0"/>
                <a:ea typeface="Calibri" pitchFamily="34" charset="-122"/>
                <a:cs typeface="Calibri" pitchFamily="34" charset="-120"/>
              </a:rPr>
              <a:t>Predicting genuinely damaging attack opportunities from public market data remains an open, largely unsolved problem.</a:t>
            </a:r>
            <a:endParaRPr lang="en-US" sz="1450" dirty="0"/>
          </a:p>
        </p:txBody>
      </p:sp>
      <p:sp>
        <p:nvSpPr>
          <p:cNvPr id="15" name="Text 13"/>
          <p:cNvSpPr/>
          <p:nvPr/>
        </p:nvSpPr>
        <p:spPr>
          <a:xfrm>
            <a:off x="868680" y="5257800"/>
            <a:ext cx="10698480" cy="685800"/>
          </a:xfrm>
          <a:prstGeom prst="rect">
            <a:avLst/>
          </a:prstGeom>
          <a:noFill/>
          <a:ln/>
        </p:spPr>
        <p:txBody>
          <a:bodyPr wrap="square" rtlCol="0" anchor="ctr"/>
          <a:lstStyle/>
          <a:p>
            <a:pPr indent="0" marL="0">
              <a:lnSpc>
                <a:spcPts val="1500"/>
              </a:lnSpc>
              <a:buNone/>
            </a:pPr>
            <a:r>
              <a:rPr lang="en-US" sz="1200" dirty="0">
                <a:solidFill>
                  <a:srgbClr val="5B6270"/>
                </a:solidFill>
                <a:latin typeface="Calibri" pitchFamily="34" charset="0"/>
                <a:ea typeface="Calibri" pitchFamily="34" charset="-122"/>
                <a:cs typeface="Calibri" pitchFamily="34" charset="-120"/>
              </a:rPr>
              <a:t>Both a hand-crafted "decision boundary" heuristic and a trained ML classifier were good at flipping signals, but neither reliably identified the attacks that actually hurt profitability.</a:t>
            </a:r>
            <a:endParaRPr lang="en-US" sz="1200" dirty="0"/>
          </a:p>
        </p:txBody>
      </p:sp>
      <p:sp>
        <p:nvSpPr>
          <p:cNvPr id="16" name="Text 14"/>
          <p:cNvSpPr/>
          <p:nvPr/>
        </p:nvSpPr>
        <p:spPr>
          <a:xfrm>
            <a:off x="11612880" y="6492240"/>
            <a:ext cx="45720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74320"/>
          </a:xfrm>
          <a:prstGeom prst="rect">
            <a:avLst/>
          </a:prstGeom>
          <a:noFill/>
          <a:ln/>
        </p:spPr>
        <p:txBody>
          <a:bodyPr wrap="square" rtlCol="0" anchor="ctr"/>
          <a:lstStyle/>
          <a:p>
            <a:pPr indent="0" marL="0">
              <a:buNone/>
            </a:pPr>
            <a:r>
              <a:rPr lang="en-US" sz="1200" b="1" spc="200" kern="0" dirty="0">
                <a:solidFill>
                  <a:srgbClr val="C0392B"/>
                </a:solidFill>
                <a:latin typeface="Calibri" pitchFamily="34" charset="0"/>
                <a:ea typeface="Calibri" pitchFamily="34" charset="-122"/>
                <a:cs typeface="Calibri" pitchFamily="34" charset="-120"/>
              </a:rPr>
              <a:t>VALUE FOR THE STATE OF KNOWLEDGE</a:t>
            </a:r>
            <a:endParaRPr lang="en-US" sz="1200" dirty="0"/>
          </a:p>
        </p:txBody>
      </p:sp>
      <p:sp>
        <p:nvSpPr>
          <p:cNvPr id="3" name="Text 1"/>
          <p:cNvSpPr/>
          <p:nvPr/>
        </p:nvSpPr>
        <p:spPr>
          <a:xfrm>
            <a:off x="548640" y="594360"/>
            <a:ext cx="11064240" cy="914400"/>
          </a:xfrm>
          <a:prstGeom prst="rect">
            <a:avLst/>
          </a:prstGeom>
          <a:noFill/>
          <a:ln/>
        </p:spPr>
        <p:txBody>
          <a:bodyPr wrap="square" rtlCol="0" anchor="ctr"/>
          <a:lstStyle/>
          <a:p>
            <a:pPr algn="l" indent="0" marL="0">
              <a:buNone/>
            </a:pPr>
            <a:r>
              <a:rPr lang="en-US" sz="2700" b="1" dirty="0">
                <a:solidFill>
                  <a:srgbClr val="1A1D29"/>
                </a:solidFill>
                <a:latin typeface="Georgia" pitchFamily="34" charset="0"/>
                <a:ea typeface="Georgia" pitchFamily="34" charset="-122"/>
                <a:cs typeface="Georgia" pitchFamily="34" charset="-120"/>
              </a:rPr>
              <a:t>What this adds to what we know — and what's</a:t>
            </a:r>
            <a:endParaRPr lang="en-US" sz="2700" dirty="0"/>
          </a:p>
          <a:p>
            <a:pPr algn="l" indent="0" marL="0">
              <a:buNone/>
            </a:pPr>
            <a:r>
              <a:rPr lang="en-US" sz="2700" b="1" dirty="0">
                <a:solidFill>
                  <a:srgbClr val="1A1D29"/>
                </a:solidFill>
                <a:latin typeface="Georgia" pitchFamily="34" charset="0"/>
                <a:ea typeface="Georgia" pitchFamily="34" charset="-122"/>
                <a:cs typeface="Georgia" pitchFamily="34" charset="-120"/>
              </a:rPr>
              <a:t>still open</a:t>
            </a:r>
            <a:endParaRPr lang="en-US" sz="2700" dirty="0"/>
          </a:p>
        </p:txBody>
      </p:sp>
      <p:sp>
        <p:nvSpPr>
          <p:cNvPr id="4" name="Text 2"/>
          <p:cNvSpPr/>
          <p:nvPr/>
        </p:nvSpPr>
        <p:spPr>
          <a:xfrm>
            <a:off x="548640" y="1691640"/>
            <a:ext cx="5212080" cy="365760"/>
          </a:xfrm>
          <a:prstGeom prst="rect">
            <a:avLst/>
          </a:prstGeom>
          <a:noFill/>
          <a:ln/>
        </p:spPr>
        <p:txBody>
          <a:bodyPr wrap="square" rtlCol="0" anchor="ctr"/>
          <a:lstStyle/>
          <a:p>
            <a:pPr indent="0" marL="0">
              <a:buNone/>
            </a:pPr>
            <a:r>
              <a:rPr lang="en-US" sz="1600" b="1" dirty="0">
                <a:solidFill>
                  <a:srgbClr val="1E8449"/>
                </a:solidFill>
                <a:latin typeface="Georgia" pitchFamily="34" charset="0"/>
                <a:ea typeface="Georgia" pitchFamily="34" charset="-122"/>
                <a:cs typeface="Georgia" pitchFamily="34" charset="-120"/>
              </a:rPr>
              <a:t>What this work contributes</a:t>
            </a:r>
            <a:endParaRPr lang="en-US" sz="1600" dirty="0"/>
          </a:p>
        </p:txBody>
      </p:sp>
      <p:sp>
        <p:nvSpPr>
          <p:cNvPr id="5" name="Text 3"/>
          <p:cNvSpPr/>
          <p:nvPr/>
        </p:nvSpPr>
        <p:spPr>
          <a:xfrm>
            <a:off x="548640" y="2103120"/>
            <a:ext cx="5212080" cy="3291840"/>
          </a:xfrm>
          <a:prstGeom prst="rect">
            <a:avLst/>
          </a:prstGeom>
          <a:noFill/>
          <a:ln/>
        </p:spPr>
        <p:txBody>
          <a:bodyPr wrap="square" rtlCol="0" anchor="t"/>
          <a:lstStyle/>
          <a:p>
            <a:pPr indent="0" marL="0">
              <a:lnSpc>
                <a:spcPts val="1800"/>
              </a:lnSpc>
              <a:buNone/>
            </a:pPr>
            <a:r>
              <a:rPr lang="en-US" sz="1300" dirty="0">
                <a:solidFill>
                  <a:srgbClr val="1F2937"/>
                </a:solidFill>
                <a:latin typeface="Calibri" pitchFamily="34" charset="0"/>
                <a:ea typeface="Calibri" pitchFamily="34" charset="-122"/>
                <a:cs typeface="Calibri" pitchFamily="34" charset="-120"/>
              </a:rPr>
              <a:t>It provides one of the first systematic maps of how ATS vulnerability changes across trading strategy, model retraining regime, attack timing policy, and evaluation horizon — rather than reporting a single attack-success number in isolation. More importantly, it demonstrates methodologically that "attack success" (did the signal change) and "attack impact" (did it cost money) must be measured and reported separately, since conflating them overstates how dangerous most adversarial attacks really are in this domain.</a:t>
            </a:r>
            <a:endParaRPr lang="en-US" sz="1300" dirty="0"/>
          </a:p>
        </p:txBody>
      </p:sp>
      <p:sp>
        <p:nvSpPr>
          <p:cNvPr id="6" name="Text 4"/>
          <p:cNvSpPr/>
          <p:nvPr/>
        </p:nvSpPr>
        <p:spPr>
          <a:xfrm>
            <a:off x="6309360" y="1691640"/>
            <a:ext cx="5303520" cy="365760"/>
          </a:xfrm>
          <a:prstGeom prst="rect">
            <a:avLst/>
          </a:prstGeom>
          <a:noFill/>
          <a:ln/>
        </p:spPr>
        <p:txBody>
          <a:bodyPr wrap="square" rtlCol="0" anchor="ctr"/>
          <a:lstStyle/>
          <a:p>
            <a:pPr indent="0" marL="0">
              <a:buNone/>
            </a:pPr>
            <a:r>
              <a:rPr lang="en-US" sz="1600" b="1" dirty="0">
                <a:solidFill>
                  <a:srgbClr val="C0392B"/>
                </a:solidFill>
                <a:latin typeface="Georgia" pitchFamily="34" charset="0"/>
                <a:ea typeface="Georgia" pitchFamily="34" charset="-122"/>
                <a:cs typeface="Georgia" pitchFamily="34" charset="-120"/>
              </a:rPr>
              <a:t>What remains open</a:t>
            </a:r>
            <a:endParaRPr lang="en-US" sz="1600" dirty="0"/>
          </a:p>
        </p:txBody>
      </p:sp>
      <p:sp>
        <p:nvSpPr>
          <p:cNvPr id="7" name="Text 5"/>
          <p:cNvSpPr/>
          <p:nvPr/>
        </p:nvSpPr>
        <p:spPr>
          <a:xfrm>
            <a:off x="6309360" y="2103120"/>
            <a:ext cx="5303520" cy="3291840"/>
          </a:xfrm>
          <a:prstGeom prst="rect">
            <a:avLst/>
          </a:prstGeom>
          <a:noFill/>
          <a:ln/>
        </p:spPr>
        <p:txBody>
          <a:bodyPr wrap="square" rtlCol="0" anchor="t"/>
          <a:lstStyle/>
          <a:p>
            <a:pPr indent="0" marL="0">
              <a:lnSpc>
                <a:spcPts val="1800"/>
              </a:lnSpc>
              <a:buNone/>
            </a:pPr>
            <a:r>
              <a:rPr lang="en-US" sz="1300" dirty="0">
                <a:solidFill>
                  <a:srgbClr val="1F2937"/>
                </a:solidFill>
                <a:latin typeface="Calibri" pitchFamily="34" charset="0"/>
                <a:ea typeface="Calibri" pitchFamily="34" charset="-122"/>
                <a:cs typeface="Calibri" pitchFamily="34" charset="-120"/>
              </a:rPr>
              <a:t>It is still unclear whether the absence of predictive signal in Experiments 5–6 reflects a genuine lack of information in public market data, or simply a limitation of the features and models tried so far. It is also unknown whether these findings — strategy-dependent fragility, the benefit of frequent retraining, the gap between signal-flipping and financial harm — generalize beyond the three tickers and the LSTM architecture tested here, to other asset classes or model families.</a:t>
            </a:r>
            <a:endParaRPr lang="en-US" sz="1300" dirty="0"/>
          </a:p>
        </p:txBody>
      </p:sp>
      <p:sp>
        <p:nvSpPr>
          <p:cNvPr id="8" name="Text 6"/>
          <p:cNvSpPr/>
          <p:nvPr/>
        </p:nvSpPr>
        <p:spPr>
          <a:xfrm>
            <a:off x="11612880" y="6492240"/>
            <a:ext cx="45720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2026-08-11T09:44:00Z</dcterms:created>
  <dcterms:modified xsi:type="dcterms:W3CDTF">2026-08-11T09:44:00Z</dcterms:modified>
</cp:coreProperties>
</file>